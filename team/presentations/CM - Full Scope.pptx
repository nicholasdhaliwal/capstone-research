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0272"/>
  </p:normalViewPr>
  <p:slideViewPr>
    <p:cSldViewPr snapToGrid="0" snapToObjects="1">
      <p:cViewPr varScale="1">
        <p:scale>
          <a:sx n="135" d="100"/>
          <a:sy n="135" d="100"/>
        </p:scale>
        <p:origin x="1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998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distinction from all current production systems: GPT-4, Claude, Gemini, Llama are all fundamentally next-token predictors. They do not form an internal representation of what they want to say before saying it. They commit to each word before knowing the next idea. The full vision here is a system where reasoning happens first, in a compressed semantic space, and language generation is the final step, a downstream rendering of a plan that already exists.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that does not exist in token-level models. A GPT-style model generates that last sentence word by word, with no internal representation of 'the next logical move in a Title VII pretext analysis.' The concept model forms that representation first, then renders it into words.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dependencies (</a:t>
            </a:r>
            <a:r>
              <a:rPr lang="en-US" dirty="0" err="1"/>
              <a:t>PyMuPDF</a:t>
            </a:r>
            <a:r>
              <a:rPr lang="en-US" dirty="0"/>
              <a:t>, python-docx, </a:t>
            </a:r>
            <a:r>
              <a:rPr lang="en-US" dirty="0" err="1"/>
              <a:t>nbformat</a:t>
            </a:r>
            <a:r>
              <a:rPr lang="en-US" dirty="0"/>
              <a:t>) that need to be installed. The PDF parser may struggle with scanned PDFs, it requires searchable text. Legal PDFs from </a:t>
            </a:r>
            <a:r>
              <a:rPr lang="en-US" dirty="0" err="1"/>
              <a:t>CourtListener</a:t>
            </a:r>
            <a:r>
              <a:rPr lang="en-US" dirty="0"/>
              <a:t> are typically text-layer PDFs and should parse cleanly.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capstone specifically, the most important fix is adding a post-parse sentence segmentation step. After file_parser produces paragraphs, run SpaCy en_core_web_sm over each paragraph and re-segment into sentences. This is a 15-line addition and needs to happen before any encoding.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correct and complete as a skeleton. Every class is self-contained and well-commented. The forward pass runs without errors on random synthetic input. The issue is entirely one of trained weights, the parameters are randomly initialized and will produce meaningless output until training has been run.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1, 3, and 4 are the most blocking for practical use. Items 2 and 5 are the most blocking for producing a model that actually learns concept-level reasoning rather than just token-level reasoning through a bottleneck.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loop is correct and would run if given data. The critical missing piece is the data pipeline, there is no code that takes raw legal text, tokenizes it, and produces the integer sequences that TextDataset expects. That link needs to be built for the capstone.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capstone, the single highest-priority gap to close is building the data pipeline: scrape -&gt; parse -&gt; sentence-segment -&gt; SONAR encode -&gt; store embeddings -&gt; create dataset. Everything else depends on having that data ready.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640080"/>
          </a:xfrm>
          <a:prstGeom prst="rect">
            <a:avLst/>
          </a:prstGeom>
          <a:noFill/>
          <a:ln/>
        </p:spPr>
        <p:txBody>
          <a:bodyPr wrap="square" lIns="0" tIns="0" rIns="0" bIns="0" rtlCol="0" anchor="ctr"/>
          <a:lstStyle/>
          <a:p>
            <a:pPr marL="0" indent="0" algn="l">
              <a:buNone/>
            </a:pPr>
            <a:r>
              <a:rPr lang="en-US" sz="3800" b="1" dirty="0">
                <a:solidFill>
                  <a:srgbClr val="000000"/>
                </a:solidFill>
                <a:latin typeface="Calibri" pitchFamily="34" charset="0"/>
                <a:ea typeface="Calibri" pitchFamily="34" charset="-122"/>
                <a:cs typeface="Calibri" pitchFamily="34" charset="-120"/>
              </a:rPr>
              <a:t>Concept Modeling</a:t>
            </a:r>
            <a:endParaRPr lang="en-US" sz="3800" dirty="0"/>
          </a:p>
        </p:txBody>
      </p:sp>
      <p:sp>
        <p:nvSpPr>
          <p:cNvPr id="3" name="Text 1"/>
          <p:cNvSpPr/>
          <p:nvPr/>
        </p:nvSpPr>
        <p:spPr>
          <a:xfrm>
            <a:off x="457200" y="2377440"/>
            <a:ext cx="8229600" cy="457200"/>
          </a:xfrm>
          <a:prstGeom prst="rect">
            <a:avLst/>
          </a:prstGeom>
          <a:noFill/>
          <a:ln/>
        </p:spPr>
        <p:txBody>
          <a:bodyPr wrap="square" lIns="0" tIns="0" rIns="0" bIns="0" rtlCol="0" anchor="ctr"/>
          <a:lstStyle/>
          <a:p>
            <a:pPr marL="0" indent="0" algn="l">
              <a:buNone/>
            </a:pPr>
            <a:r>
              <a:rPr lang="en-US" sz="2200" dirty="0"/>
              <a:t>Full Scope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rgbClr val="000000"/>
                </a:solidFill>
                <a:latin typeface="Calibri" pitchFamily="34" charset="0"/>
                <a:ea typeface="Calibri" pitchFamily="34" charset="-122"/>
                <a:cs typeface="Calibri" pitchFamily="34" charset="-120"/>
              </a:rPr>
              <a:t>A1: What the Full System Is</a:t>
            </a:r>
            <a:endParaRPr lang="en-US" sz="3000" dirty="0"/>
          </a:p>
        </p:txBody>
      </p:sp>
      <p:sp>
        <p:nvSpPr>
          <p:cNvPr id="4" name="Text 1"/>
          <p:cNvSpPr/>
          <p:nvPr/>
        </p:nvSpPr>
        <p:spPr>
          <a:xfrm>
            <a:off x="457200" y="1005840"/>
            <a:ext cx="8229600" cy="3840480"/>
          </a:xfrm>
          <a:prstGeom prst="rect">
            <a:avLst/>
          </a:prstGeom>
          <a:noFill/>
          <a:ln/>
        </p:spPr>
        <p:txBody>
          <a:bodyPr wrap="square" lIns="0" tIns="0" rIns="0" bIns="0" rtlCol="0" anchor="t"/>
          <a:lstStyle/>
          <a:p>
            <a:pPr marL="342900" indent="-342900" algn="l">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A transformer-based encoder-decoder that reads arbitrary inputs and reasons entirely in concept space before generating any output</a:t>
            </a:r>
            <a:endParaRPr lang="en-US" sz="1600" dirty="0"/>
          </a:p>
          <a:p>
            <a:pPr marL="342900" indent="-342900" algn="l">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The unit of computation is not a token (a subword fragment) but a concept which we define as a variable-length semantic unit whose boundaries are learned from data, not imposed by rules</a:t>
            </a:r>
            <a:endParaRPr lang="en-US" sz="1600" dirty="0"/>
          </a:p>
          <a:p>
            <a:pPr marL="342900" indent="-342900" algn="l">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Emulates how humans process complex documents: form ideas, hold them in working memory, reason about relationships, construct a response at the idea level before choosing words</a:t>
            </a:r>
            <a:endParaRPr lang="en-US" sz="1600" dirty="0"/>
          </a:p>
          <a:p>
            <a:pPr marL="342900" indent="-342900" algn="l">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Inputs: any document such as legal opinions, research papers, contracts, case files, clinical notes</a:t>
            </a:r>
            <a:endParaRPr lang="en-US" sz="1600" dirty="0"/>
          </a:p>
          <a:p>
            <a:pPr marL="342900" indent="-342900" algn="l">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Output: structured, logically coherent reasoning in natural language, generated from concept-level plans and not surface-level token continuation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rgbClr val="000000"/>
                </a:solidFill>
                <a:latin typeface="Calibri" pitchFamily="34" charset="0"/>
                <a:ea typeface="Calibri" pitchFamily="34" charset="-122"/>
                <a:cs typeface="Calibri" pitchFamily="34" charset="-120"/>
              </a:rPr>
              <a:t>A2: Full Architecture - Five Components</a:t>
            </a:r>
            <a:endParaRPr lang="en-US" sz="3000" dirty="0"/>
          </a:p>
        </p:txBody>
      </p:sp>
      <p:sp>
        <p:nvSpPr>
          <p:cNvPr id="4" name="Text 1"/>
          <p:cNvSpPr/>
          <p:nvPr/>
        </p:nvSpPr>
        <p:spPr>
          <a:xfrm>
            <a:off x="457200" y="1005840"/>
            <a:ext cx="2682240" cy="320040"/>
          </a:xfrm>
          <a:prstGeom prst="rect">
            <a:avLst/>
          </a:prstGeom>
          <a:noFill/>
          <a:ln/>
        </p:spPr>
        <p:txBody>
          <a:bodyPr wrap="square" lIns="0" tIns="0" rIns="0" bIns="0" rtlCol="0" anchor="ctr"/>
          <a:lstStyle/>
          <a:p>
            <a:pPr marL="0" indent="0" algn="l">
              <a:buNone/>
            </a:pPr>
            <a:r>
              <a:rPr lang="en-US" sz="1200" b="1" dirty="0">
                <a:solidFill>
                  <a:srgbClr val="000000"/>
                </a:solidFill>
                <a:latin typeface="Calibri" pitchFamily="34" charset="0"/>
                <a:ea typeface="Calibri" pitchFamily="34" charset="-122"/>
                <a:cs typeface="Calibri" pitchFamily="34" charset="-120"/>
              </a:rPr>
              <a:t>1. Multi-format Ingester</a:t>
            </a:r>
            <a:endParaRPr lang="en-US" sz="1200" dirty="0"/>
          </a:p>
        </p:txBody>
      </p:sp>
      <p:sp>
        <p:nvSpPr>
          <p:cNvPr id="5" name="Text 2"/>
          <p:cNvSpPr/>
          <p:nvPr/>
        </p:nvSpPr>
        <p:spPr>
          <a:xfrm>
            <a:off x="457200" y="1353312"/>
            <a:ext cx="2682240" cy="1463040"/>
          </a:xfrm>
          <a:prstGeom prst="rect">
            <a:avLst/>
          </a:prstGeom>
          <a:noFill/>
          <a:ln/>
        </p:spPr>
        <p:txBody>
          <a:bodyPr wrap="square" lIns="0" tIns="0" rIns="0" bIns="0" rtlCol="0" anchor="t"/>
          <a:lstStyle/>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Accepts PDF, .txt, .docx, court records, structured databases</a:t>
            </a:r>
            <a:endParaRPr lang="en-US" sz="1100" dirty="0"/>
          </a:p>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Outputs clean text segmented into processable units</a:t>
            </a:r>
            <a:endParaRPr lang="en-US" sz="1100" dirty="0"/>
          </a:p>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Domain-aware: legal paragraphs, clauses, opinion sections as meaningful boundaries</a:t>
            </a:r>
            <a:endParaRPr lang="en-US" sz="1100" dirty="0"/>
          </a:p>
        </p:txBody>
      </p:sp>
      <p:sp>
        <p:nvSpPr>
          <p:cNvPr id="6" name="Text 3"/>
          <p:cNvSpPr/>
          <p:nvPr/>
        </p:nvSpPr>
        <p:spPr>
          <a:xfrm>
            <a:off x="3230880" y="1005840"/>
            <a:ext cx="2682240" cy="320040"/>
          </a:xfrm>
          <a:prstGeom prst="rect">
            <a:avLst/>
          </a:prstGeom>
          <a:noFill/>
          <a:ln/>
        </p:spPr>
        <p:txBody>
          <a:bodyPr wrap="square" lIns="0" tIns="0" rIns="0" bIns="0" rtlCol="0" anchor="ctr"/>
          <a:lstStyle/>
          <a:p>
            <a:pPr marL="0" indent="0" algn="l">
              <a:buNone/>
            </a:pPr>
            <a:r>
              <a:rPr lang="en-US" sz="1200" b="1" dirty="0">
                <a:solidFill>
                  <a:srgbClr val="000000"/>
                </a:solidFill>
                <a:latin typeface="Calibri" pitchFamily="34" charset="0"/>
                <a:ea typeface="Calibri" pitchFamily="34" charset="-122"/>
                <a:cs typeface="Calibri" pitchFamily="34" charset="-120"/>
              </a:rPr>
              <a:t>2. Boundary Detector</a:t>
            </a:r>
            <a:endParaRPr lang="en-US" sz="1200" dirty="0"/>
          </a:p>
        </p:txBody>
      </p:sp>
      <p:sp>
        <p:nvSpPr>
          <p:cNvPr id="7" name="Text 4"/>
          <p:cNvSpPr/>
          <p:nvPr/>
        </p:nvSpPr>
        <p:spPr>
          <a:xfrm>
            <a:off x="3230880" y="1353312"/>
            <a:ext cx="2682240" cy="1463040"/>
          </a:xfrm>
          <a:prstGeom prst="rect">
            <a:avLst/>
          </a:prstGeom>
          <a:noFill/>
          <a:ln/>
        </p:spPr>
        <p:txBody>
          <a:bodyPr wrap="square" lIns="0" tIns="0" rIns="0" bIns="0" rtlCol="0" anchor="t"/>
          <a:lstStyle/>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Trainable module that reads token-level reps and decides where one concept ends and the next begins</a:t>
            </a:r>
            <a:endParaRPr lang="en-US" sz="1100" dirty="0"/>
          </a:p>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Does not rely on punctuation, learns semantic shift from data</a:t>
            </a:r>
            <a:endParaRPr lang="en-US" sz="1100" dirty="0"/>
          </a:p>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Produces binary signal: boundary / not boundary at each token position</a:t>
            </a:r>
            <a:endParaRPr lang="en-US" sz="1100" dirty="0"/>
          </a:p>
        </p:txBody>
      </p:sp>
      <p:sp>
        <p:nvSpPr>
          <p:cNvPr id="8" name="Text 5"/>
          <p:cNvSpPr/>
          <p:nvPr/>
        </p:nvSpPr>
        <p:spPr>
          <a:xfrm>
            <a:off x="6004560" y="1005840"/>
            <a:ext cx="2682240" cy="320040"/>
          </a:xfrm>
          <a:prstGeom prst="rect">
            <a:avLst/>
          </a:prstGeom>
          <a:noFill/>
          <a:ln/>
        </p:spPr>
        <p:txBody>
          <a:bodyPr wrap="square" lIns="0" tIns="0" rIns="0" bIns="0" rtlCol="0" anchor="ctr"/>
          <a:lstStyle/>
          <a:p>
            <a:pPr marL="0" indent="0" algn="l">
              <a:buNone/>
            </a:pPr>
            <a:r>
              <a:rPr lang="en-US" sz="1200" b="1" dirty="0">
                <a:solidFill>
                  <a:srgbClr val="000000"/>
                </a:solidFill>
                <a:latin typeface="Calibri" pitchFamily="34" charset="0"/>
                <a:ea typeface="Calibri" pitchFamily="34" charset="-122"/>
                <a:cs typeface="Calibri" pitchFamily="34" charset="-120"/>
              </a:rPr>
              <a:t>3. Concept Encoder</a:t>
            </a:r>
            <a:endParaRPr lang="en-US" sz="1200" dirty="0"/>
          </a:p>
        </p:txBody>
      </p:sp>
      <p:sp>
        <p:nvSpPr>
          <p:cNvPr id="9" name="Text 6"/>
          <p:cNvSpPr/>
          <p:nvPr/>
        </p:nvSpPr>
        <p:spPr>
          <a:xfrm>
            <a:off x="6004560" y="1353312"/>
            <a:ext cx="2682240" cy="1463040"/>
          </a:xfrm>
          <a:prstGeom prst="rect">
            <a:avLst/>
          </a:prstGeom>
          <a:noFill/>
          <a:ln/>
        </p:spPr>
        <p:txBody>
          <a:bodyPr wrap="square" lIns="0" tIns="0" rIns="0" bIns="0" rtlCol="0" anchor="t"/>
          <a:lstStyle/>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Pools tokens within each detected segment into a single fixed-dim concept vector</a:t>
            </a:r>
            <a:endParaRPr lang="en-US" sz="1100" dirty="0"/>
          </a:p>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Projects into a higher-dimensional concept space</a:t>
            </a:r>
            <a:endParaRPr lang="en-US" sz="1100" dirty="0"/>
          </a:p>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This vector is the model's internal unit of thought for that segment</a:t>
            </a:r>
            <a:endParaRPr lang="en-US" sz="1100" dirty="0"/>
          </a:p>
        </p:txBody>
      </p:sp>
      <p:sp>
        <p:nvSpPr>
          <p:cNvPr id="10" name="Shape 7"/>
          <p:cNvSpPr/>
          <p:nvPr/>
        </p:nvSpPr>
        <p:spPr>
          <a:xfrm>
            <a:off x="457200" y="2926080"/>
            <a:ext cx="8229600" cy="0"/>
          </a:xfrm>
          <a:prstGeom prst="line">
            <a:avLst/>
          </a:prstGeom>
          <a:noFill/>
          <a:ln w="9525">
            <a:solidFill>
              <a:srgbClr val="CCCCCC"/>
            </a:solidFill>
            <a:prstDash val="solid"/>
          </a:ln>
        </p:spPr>
        <p:txBody>
          <a:bodyPr/>
          <a:lstStyle/>
          <a:p>
            <a:endParaRPr lang="en-US"/>
          </a:p>
        </p:txBody>
      </p:sp>
      <p:sp>
        <p:nvSpPr>
          <p:cNvPr id="11" name="Text 8"/>
          <p:cNvSpPr/>
          <p:nvPr/>
        </p:nvSpPr>
        <p:spPr>
          <a:xfrm>
            <a:off x="457200" y="3063240"/>
            <a:ext cx="4023360" cy="320040"/>
          </a:xfrm>
          <a:prstGeom prst="rect">
            <a:avLst/>
          </a:prstGeom>
          <a:noFill/>
          <a:ln/>
        </p:spPr>
        <p:txBody>
          <a:bodyPr wrap="square" lIns="0" tIns="0" rIns="0" bIns="0" rtlCol="0" anchor="ctr"/>
          <a:lstStyle/>
          <a:p>
            <a:pPr marL="0" indent="0" algn="l">
              <a:buNone/>
            </a:pPr>
            <a:r>
              <a:rPr lang="en-US" sz="1200" b="1" dirty="0">
                <a:solidFill>
                  <a:srgbClr val="000000"/>
                </a:solidFill>
                <a:latin typeface="Calibri" pitchFamily="34" charset="0"/>
                <a:ea typeface="Calibri" pitchFamily="34" charset="-122"/>
                <a:cs typeface="Calibri" pitchFamily="34" charset="-120"/>
              </a:rPr>
              <a:t>4. Concept-Level Transformer</a:t>
            </a:r>
            <a:endParaRPr lang="en-US" sz="1200" dirty="0"/>
          </a:p>
        </p:txBody>
      </p:sp>
      <p:sp>
        <p:nvSpPr>
          <p:cNvPr id="12" name="Text 9"/>
          <p:cNvSpPr/>
          <p:nvPr/>
        </p:nvSpPr>
        <p:spPr>
          <a:xfrm>
            <a:off x="457200" y="3410712"/>
            <a:ext cx="4023360" cy="1417320"/>
          </a:xfrm>
          <a:prstGeom prst="rect">
            <a:avLst/>
          </a:prstGeom>
          <a:noFill/>
          <a:ln/>
        </p:spPr>
        <p:txBody>
          <a:bodyPr wrap="square" lIns="0" tIns="0" rIns="0" bIns="0" rtlCol="0" anchor="t"/>
          <a:lstStyle/>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Deep Transformer operating exclusively on the compressed concept sequence</a:t>
            </a:r>
            <a:endParaRPr lang="en-US" sz="1100" dirty="0"/>
          </a:p>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Where reasoning, planning, and logical inference happen</a:t>
            </a:r>
            <a:endParaRPr lang="en-US" sz="1100" dirty="0"/>
          </a:p>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Sequence is 4-8x shorter than token sequence and same compute buys deeper processing per idea (*relates to Jay’s insight from earlier)</a:t>
            </a:r>
            <a:endParaRPr lang="en-US" sz="1100" dirty="0"/>
          </a:p>
        </p:txBody>
      </p:sp>
      <p:sp>
        <p:nvSpPr>
          <p:cNvPr id="13" name="Text 10"/>
          <p:cNvSpPr/>
          <p:nvPr/>
        </p:nvSpPr>
        <p:spPr>
          <a:xfrm>
            <a:off x="4663440" y="3063240"/>
            <a:ext cx="4023360" cy="320040"/>
          </a:xfrm>
          <a:prstGeom prst="rect">
            <a:avLst/>
          </a:prstGeom>
          <a:noFill/>
          <a:ln/>
        </p:spPr>
        <p:txBody>
          <a:bodyPr wrap="square" lIns="0" tIns="0" rIns="0" bIns="0" rtlCol="0" anchor="ctr"/>
          <a:lstStyle/>
          <a:p>
            <a:pPr marL="0" indent="0" algn="l">
              <a:buNone/>
            </a:pPr>
            <a:r>
              <a:rPr lang="en-US" sz="1200" b="1" dirty="0">
                <a:solidFill>
                  <a:srgbClr val="000000"/>
                </a:solidFill>
                <a:latin typeface="Calibri" pitchFamily="34" charset="0"/>
                <a:ea typeface="Calibri" pitchFamily="34" charset="-122"/>
                <a:cs typeface="Calibri" pitchFamily="34" charset="-120"/>
              </a:rPr>
              <a:t>5. Cross-Attention Decoder</a:t>
            </a:r>
            <a:endParaRPr lang="en-US" sz="1200" dirty="0"/>
          </a:p>
        </p:txBody>
      </p:sp>
      <p:sp>
        <p:nvSpPr>
          <p:cNvPr id="14" name="Text 11"/>
          <p:cNvSpPr/>
          <p:nvPr/>
        </p:nvSpPr>
        <p:spPr>
          <a:xfrm>
            <a:off x="4663440" y="3410712"/>
            <a:ext cx="4023360" cy="1417320"/>
          </a:xfrm>
          <a:prstGeom prst="rect">
            <a:avLst/>
          </a:prstGeom>
          <a:noFill/>
          <a:ln/>
        </p:spPr>
        <p:txBody>
          <a:bodyPr wrap="square" lIns="0" tIns="0" rIns="0" bIns="0" rtlCol="0" anchor="t"/>
          <a:lstStyle/>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Reconstructs natural language from concept vectors</a:t>
            </a:r>
            <a:endParaRPr lang="en-US" sz="1100" dirty="0"/>
          </a:p>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Each output token attends back to the concept vectors that produced it</a:t>
            </a:r>
            <a:endParaRPr lang="en-US" sz="1100" dirty="0"/>
          </a:p>
          <a:p>
            <a:pPr marL="342900" indent="-342900" algn="l">
              <a:spcAft>
                <a:spcPts val="400"/>
              </a:spcAft>
              <a:buSzPct val="100000"/>
              <a:buChar char="•"/>
            </a:pPr>
            <a:r>
              <a:rPr lang="en-US" sz="1100" dirty="0">
                <a:solidFill>
                  <a:srgbClr val="000000"/>
                </a:solidFill>
                <a:latin typeface="Calibri" pitchFamily="34" charset="0"/>
                <a:ea typeface="Calibri" pitchFamily="34" charset="-122"/>
                <a:cs typeface="Calibri" pitchFamily="34" charset="-120"/>
              </a:rPr>
              <a:t>Causal structure: decoder cannot use a concept it hasn't finished reasoning about</a:t>
            </a:r>
            <a:endParaRPr lang="en-US" sz="1100" dirty="0"/>
          </a:p>
        </p:txBody>
      </p:sp>
      <p:sp>
        <p:nvSpPr>
          <p:cNvPr id="15" name="Shape 12"/>
          <p:cNvSpPr/>
          <p:nvPr/>
        </p:nvSpPr>
        <p:spPr>
          <a:xfrm>
            <a:off x="3166872" y="1005840"/>
            <a:ext cx="0" cy="1874520"/>
          </a:xfrm>
          <a:prstGeom prst="line">
            <a:avLst/>
          </a:prstGeom>
          <a:noFill/>
          <a:ln w="9525">
            <a:solidFill>
              <a:srgbClr val="CCCCCC"/>
            </a:solidFill>
            <a:prstDash val="solid"/>
          </a:ln>
        </p:spPr>
        <p:txBody>
          <a:bodyPr/>
          <a:lstStyle/>
          <a:p>
            <a:endParaRPr lang="en-US"/>
          </a:p>
        </p:txBody>
      </p:sp>
      <p:sp>
        <p:nvSpPr>
          <p:cNvPr id="16" name="Shape 13"/>
          <p:cNvSpPr/>
          <p:nvPr/>
        </p:nvSpPr>
        <p:spPr>
          <a:xfrm>
            <a:off x="5940552" y="1005840"/>
            <a:ext cx="0" cy="1874520"/>
          </a:xfrm>
          <a:prstGeom prst="line">
            <a:avLst/>
          </a:prstGeom>
          <a:noFill/>
          <a:ln w="9525">
            <a:solidFill>
              <a:srgbClr val="CCCCCC"/>
            </a:solidFill>
            <a:prstDash val="solid"/>
          </a:ln>
        </p:spPr>
        <p:txBody>
          <a:bodyPr/>
          <a:lstStyle/>
          <a:p>
            <a:endParaRPr lang="en-US"/>
          </a:p>
        </p:txBody>
      </p:sp>
      <p:sp>
        <p:nvSpPr>
          <p:cNvPr id="17" name="Shape 14"/>
          <p:cNvSpPr/>
          <p:nvPr/>
        </p:nvSpPr>
        <p:spPr>
          <a:xfrm>
            <a:off x="4599432" y="3063240"/>
            <a:ext cx="0" cy="1828800"/>
          </a:xfrm>
          <a:prstGeom prst="line">
            <a:avLst/>
          </a:prstGeom>
          <a:noFill/>
          <a:ln w="9525">
            <a:solidFill>
              <a:srgbClr val="CCCCCC"/>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rgbClr val="000000"/>
                </a:solidFill>
                <a:latin typeface="Calibri" pitchFamily="34" charset="0"/>
                <a:ea typeface="Calibri" pitchFamily="34" charset="-122"/>
                <a:cs typeface="Calibri" pitchFamily="34" charset="-120"/>
              </a:rPr>
              <a:t>A3: The Mechanism of How It Reasons</a:t>
            </a:r>
            <a:endParaRPr lang="en-US" sz="3000" dirty="0"/>
          </a:p>
        </p:txBody>
      </p:sp>
      <p:sp>
        <p:nvSpPr>
          <p:cNvPr id="4" name="Text 1"/>
          <p:cNvSpPr/>
          <p:nvPr/>
        </p:nvSpPr>
        <p:spPr>
          <a:xfrm>
            <a:off x="457200" y="1005840"/>
            <a:ext cx="2194560" cy="640080"/>
          </a:xfrm>
          <a:prstGeom prst="rect">
            <a:avLst/>
          </a:prstGeom>
          <a:noFill/>
          <a:ln/>
        </p:spPr>
        <p:txBody>
          <a:bodyPr wrap="square" lIns="0" tIns="0" rIns="0" bIns="0" rtlCol="0" anchor="t"/>
          <a:lstStyle/>
          <a:p>
            <a:pPr marL="0" indent="0" algn="l">
              <a:buNone/>
            </a:pPr>
            <a:r>
              <a:rPr lang="en-US" sz="1300" b="1" dirty="0">
                <a:solidFill>
                  <a:srgbClr val="000000"/>
                </a:solidFill>
                <a:latin typeface="Calibri" pitchFamily="34" charset="0"/>
                <a:ea typeface="Calibri" pitchFamily="34" charset="-122"/>
                <a:cs typeface="Calibri" pitchFamily="34" charset="-120"/>
              </a:rPr>
              <a:t>1. Input</a:t>
            </a:r>
            <a:endParaRPr lang="en-US" sz="1300" dirty="0"/>
          </a:p>
        </p:txBody>
      </p:sp>
      <p:sp>
        <p:nvSpPr>
          <p:cNvPr id="5" name="Text 2"/>
          <p:cNvSpPr/>
          <p:nvPr/>
        </p:nvSpPr>
        <p:spPr>
          <a:xfrm>
            <a:off x="2743200" y="1005840"/>
            <a:ext cx="6309360" cy="640080"/>
          </a:xfrm>
          <a:prstGeom prst="rect">
            <a:avLst/>
          </a:prstGeom>
          <a:noFill/>
          <a:ln/>
        </p:spPr>
        <p:txBody>
          <a:bodyPr wrap="square" lIns="0" tIns="0" rIns="0" bIns="0" rtlCol="0" anchor="t"/>
          <a:lstStyle/>
          <a:p>
            <a:pPr marL="0" indent="0" algn="l">
              <a:buNone/>
            </a:pPr>
            <a:r>
              <a:rPr lang="en-US" sz="1300" dirty="0">
                <a:solidFill>
                  <a:srgbClr val="000000"/>
                </a:solidFill>
                <a:latin typeface="Calibri" pitchFamily="34" charset="0"/>
                <a:ea typeface="Calibri" pitchFamily="34" charset="-122"/>
                <a:cs typeface="Calibri" pitchFamily="34" charset="-120"/>
              </a:rPr>
              <a:t>Plaintiff terminated after subordinate complaint. Employer cites documented performance deficiencies. Plaintiff argues documentation was fabricated post-hoc in response to her EEOC complaint.</a:t>
            </a:r>
            <a:endParaRPr lang="en-US" sz="1300" dirty="0"/>
          </a:p>
        </p:txBody>
      </p:sp>
      <p:sp>
        <p:nvSpPr>
          <p:cNvPr id="6" name="Shape 3"/>
          <p:cNvSpPr/>
          <p:nvPr/>
        </p:nvSpPr>
        <p:spPr>
          <a:xfrm>
            <a:off x="457200" y="1645920"/>
            <a:ext cx="8229600" cy="0"/>
          </a:xfrm>
          <a:prstGeom prst="line">
            <a:avLst/>
          </a:prstGeom>
          <a:noFill/>
          <a:ln w="6350">
            <a:solidFill>
              <a:srgbClr val="EEEEEE"/>
            </a:solidFill>
            <a:prstDash val="solid"/>
          </a:ln>
        </p:spPr>
        <p:txBody>
          <a:bodyPr/>
          <a:lstStyle/>
          <a:p>
            <a:endParaRPr lang="en-US"/>
          </a:p>
        </p:txBody>
      </p:sp>
      <p:sp>
        <p:nvSpPr>
          <p:cNvPr id="7" name="Text 4"/>
          <p:cNvSpPr/>
          <p:nvPr/>
        </p:nvSpPr>
        <p:spPr>
          <a:xfrm>
            <a:off x="457200" y="1691640"/>
            <a:ext cx="2194560" cy="640080"/>
          </a:xfrm>
          <a:prstGeom prst="rect">
            <a:avLst/>
          </a:prstGeom>
          <a:noFill/>
          <a:ln/>
        </p:spPr>
        <p:txBody>
          <a:bodyPr wrap="square" lIns="0" tIns="0" rIns="0" bIns="0" rtlCol="0" anchor="t"/>
          <a:lstStyle/>
          <a:p>
            <a:pPr marL="0" indent="0" algn="l">
              <a:buNone/>
            </a:pPr>
            <a:r>
              <a:rPr lang="en-US" sz="1300" b="1" dirty="0">
                <a:solidFill>
                  <a:srgbClr val="000000"/>
                </a:solidFill>
                <a:latin typeface="Calibri" pitchFamily="34" charset="0"/>
                <a:ea typeface="Calibri" pitchFamily="34" charset="-122"/>
                <a:cs typeface="Calibri" pitchFamily="34" charset="-120"/>
              </a:rPr>
              <a:t>2. Segmentation</a:t>
            </a:r>
            <a:endParaRPr lang="en-US" sz="1300" dirty="0"/>
          </a:p>
        </p:txBody>
      </p:sp>
      <p:sp>
        <p:nvSpPr>
          <p:cNvPr id="8" name="Text 5"/>
          <p:cNvSpPr/>
          <p:nvPr/>
        </p:nvSpPr>
        <p:spPr>
          <a:xfrm>
            <a:off x="2743200" y="1691640"/>
            <a:ext cx="6309360" cy="640080"/>
          </a:xfrm>
          <a:prstGeom prst="rect">
            <a:avLst/>
          </a:prstGeom>
          <a:noFill/>
          <a:ln/>
        </p:spPr>
        <p:txBody>
          <a:bodyPr wrap="square" lIns="0" tIns="0" rIns="0" bIns="0" rtlCol="0" anchor="t"/>
          <a:lstStyle/>
          <a:p>
            <a:pPr marL="0" indent="0" algn="l">
              <a:buNone/>
            </a:pPr>
            <a:r>
              <a:rPr lang="en-US" sz="1300" dirty="0">
                <a:solidFill>
                  <a:srgbClr val="000000"/>
                </a:solidFill>
                <a:latin typeface="Calibri" pitchFamily="34" charset="0"/>
                <a:ea typeface="Calibri" pitchFamily="34" charset="-122"/>
                <a:cs typeface="Calibri" pitchFamily="34" charset="-120"/>
              </a:rPr>
              <a:t>Three concept units: [employment &amp; termination event] / [employer's stated justification] / [plaintiff's counter-argument re: pretext]</a:t>
            </a:r>
            <a:endParaRPr lang="en-US" sz="1300" dirty="0"/>
          </a:p>
        </p:txBody>
      </p:sp>
      <p:sp>
        <p:nvSpPr>
          <p:cNvPr id="9" name="Shape 6"/>
          <p:cNvSpPr/>
          <p:nvPr/>
        </p:nvSpPr>
        <p:spPr>
          <a:xfrm>
            <a:off x="457200" y="2331720"/>
            <a:ext cx="8229600" cy="0"/>
          </a:xfrm>
          <a:prstGeom prst="line">
            <a:avLst/>
          </a:prstGeom>
          <a:noFill/>
          <a:ln w="6350">
            <a:solidFill>
              <a:srgbClr val="EEEEEE"/>
            </a:solidFill>
            <a:prstDash val="solid"/>
          </a:ln>
        </p:spPr>
        <p:txBody>
          <a:bodyPr/>
          <a:lstStyle/>
          <a:p>
            <a:endParaRPr lang="en-US"/>
          </a:p>
        </p:txBody>
      </p:sp>
      <p:sp>
        <p:nvSpPr>
          <p:cNvPr id="10" name="Text 7"/>
          <p:cNvSpPr/>
          <p:nvPr/>
        </p:nvSpPr>
        <p:spPr>
          <a:xfrm>
            <a:off x="457200" y="2377440"/>
            <a:ext cx="2194560" cy="640080"/>
          </a:xfrm>
          <a:prstGeom prst="rect">
            <a:avLst/>
          </a:prstGeom>
          <a:noFill/>
          <a:ln/>
        </p:spPr>
        <p:txBody>
          <a:bodyPr wrap="square" lIns="0" tIns="0" rIns="0" bIns="0" rtlCol="0" anchor="t"/>
          <a:lstStyle/>
          <a:p>
            <a:pPr marL="0" indent="0" algn="l">
              <a:buNone/>
            </a:pPr>
            <a:r>
              <a:rPr lang="en-US" sz="1300" b="1" dirty="0">
                <a:solidFill>
                  <a:srgbClr val="000000"/>
                </a:solidFill>
                <a:latin typeface="Calibri" pitchFamily="34" charset="0"/>
                <a:ea typeface="Calibri" pitchFamily="34" charset="-122"/>
                <a:cs typeface="Calibri" pitchFamily="34" charset="-120"/>
              </a:rPr>
              <a:t>3. Encoding</a:t>
            </a:r>
            <a:endParaRPr lang="en-US" sz="1300" dirty="0"/>
          </a:p>
        </p:txBody>
      </p:sp>
      <p:sp>
        <p:nvSpPr>
          <p:cNvPr id="11" name="Text 8"/>
          <p:cNvSpPr/>
          <p:nvPr/>
        </p:nvSpPr>
        <p:spPr>
          <a:xfrm>
            <a:off x="2743200" y="2377440"/>
            <a:ext cx="6309360" cy="640080"/>
          </a:xfrm>
          <a:prstGeom prst="rect">
            <a:avLst/>
          </a:prstGeom>
          <a:noFill/>
          <a:ln/>
        </p:spPr>
        <p:txBody>
          <a:bodyPr wrap="square" lIns="0" tIns="0" rIns="0" bIns="0" rtlCol="0" anchor="t"/>
          <a:lstStyle/>
          <a:p>
            <a:pPr marL="0" indent="0" algn="l">
              <a:buNone/>
            </a:pPr>
            <a:r>
              <a:rPr lang="en-US" sz="1300" dirty="0">
                <a:solidFill>
                  <a:srgbClr val="000000"/>
                </a:solidFill>
                <a:latin typeface="Calibri" pitchFamily="34" charset="0"/>
                <a:ea typeface="Calibri" pitchFamily="34" charset="-122"/>
                <a:cs typeface="Calibri" pitchFamily="34" charset="-120"/>
              </a:rPr>
              <a:t>Each unit → one vector. Three vectors enter the concept transformer.</a:t>
            </a:r>
            <a:endParaRPr lang="en-US" sz="1300" dirty="0"/>
          </a:p>
        </p:txBody>
      </p:sp>
      <p:sp>
        <p:nvSpPr>
          <p:cNvPr id="12" name="Shape 9"/>
          <p:cNvSpPr/>
          <p:nvPr/>
        </p:nvSpPr>
        <p:spPr>
          <a:xfrm>
            <a:off x="457200" y="3017520"/>
            <a:ext cx="8229600" cy="0"/>
          </a:xfrm>
          <a:prstGeom prst="line">
            <a:avLst/>
          </a:prstGeom>
          <a:noFill/>
          <a:ln w="6350">
            <a:solidFill>
              <a:srgbClr val="EEEEEE"/>
            </a:solidFill>
            <a:prstDash val="solid"/>
          </a:ln>
        </p:spPr>
        <p:txBody>
          <a:bodyPr/>
          <a:lstStyle/>
          <a:p>
            <a:endParaRPr lang="en-US"/>
          </a:p>
        </p:txBody>
      </p:sp>
      <p:sp>
        <p:nvSpPr>
          <p:cNvPr id="13" name="Text 10"/>
          <p:cNvSpPr/>
          <p:nvPr/>
        </p:nvSpPr>
        <p:spPr>
          <a:xfrm>
            <a:off x="457200" y="3063240"/>
            <a:ext cx="2194560" cy="640080"/>
          </a:xfrm>
          <a:prstGeom prst="rect">
            <a:avLst/>
          </a:prstGeom>
          <a:noFill/>
          <a:ln/>
        </p:spPr>
        <p:txBody>
          <a:bodyPr wrap="square" lIns="0" tIns="0" rIns="0" bIns="0" rtlCol="0" anchor="t"/>
          <a:lstStyle/>
          <a:p>
            <a:pPr marL="0" indent="0" algn="l">
              <a:buNone/>
            </a:pPr>
            <a:r>
              <a:rPr lang="en-US" sz="1300" b="1" dirty="0">
                <a:solidFill>
                  <a:srgbClr val="000000"/>
                </a:solidFill>
                <a:latin typeface="Calibri" pitchFamily="34" charset="0"/>
                <a:ea typeface="Calibri" pitchFamily="34" charset="-122"/>
                <a:cs typeface="Calibri" pitchFamily="34" charset="-120"/>
              </a:rPr>
              <a:t>4. Reasoning in concept space</a:t>
            </a:r>
            <a:endParaRPr lang="en-US" sz="1300" dirty="0"/>
          </a:p>
        </p:txBody>
      </p:sp>
      <p:sp>
        <p:nvSpPr>
          <p:cNvPr id="14" name="Text 11"/>
          <p:cNvSpPr/>
          <p:nvPr/>
        </p:nvSpPr>
        <p:spPr>
          <a:xfrm>
            <a:off x="2743200" y="3063240"/>
            <a:ext cx="6309360" cy="640080"/>
          </a:xfrm>
          <a:prstGeom prst="rect">
            <a:avLst/>
          </a:prstGeom>
          <a:noFill/>
          <a:ln/>
        </p:spPr>
        <p:txBody>
          <a:bodyPr wrap="square" lIns="0" tIns="0" rIns="0" bIns="0" rtlCol="0" anchor="t"/>
          <a:lstStyle/>
          <a:p>
            <a:pPr marL="0" indent="0" algn="l">
              <a:buNone/>
            </a:pPr>
            <a:r>
              <a:rPr lang="en-US" sz="1300" dirty="0">
                <a:solidFill>
                  <a:srgbClr val="000000"/>
                </a:solidFill>
                <a:latin typeface="Calibri" pitchFamily="34" charset="0"/>
                <a:ea typeface="Calibri" pitchFamily="34" charset="-122"/>
                <a:cs typeface="Calibri" pitchFamily="34" charset="-120"/>
              </a:rPr>
              <a:t>Transformer generates a fourth concept: [court evaluates whether documented deficiencies predate the EEOC complaint]</a:t>
            </a:r>
            <a:endParaRPr lang="en-US" sz="1300" dirty="0"/>
          </a:p>
        </p:txBody>
      </p:sp>
      <p:sp>
        <p:nvSpPr>
          <p:cNvPr id="15" name="Shape 12"/>
          <p:cNvSpPr/>
          <p:nvPr/>
        </p:nvSpPr>
        <p:spPr>
          <a:xfrm>
            <a:off x="457200" y="3703320"/>
            <a:ext cx="8229600" cy="0"/>
          </a:xfrm>
          <a:prstGeom prst="line">
            <a:avLst/>
          </a:prstGeom>
          <a:noFill/>
          <a:ln w="6350">
            <a:solidFill>
              <a:srgbClr val="EEEEEE"/>
            </a:solidFill>
            <a:prstDash val="solid"/>
          </a:ln>
        </p:spPr>
        <p:txBody>
          <a:bodyPr/>
          <a:lstStyle/>
          <a:p>
            <a:endParaRPr lang="en-US"/>
          </a:p>
        </p:txBody>
      </p:sp>
      <p:sp>
        <p:nvSpPr>
          <p:cNvPr id="16" name="Text 13"/>
          <p:cNvSpPr/>
          <p:nvPr/>
        </p:nvSpPr>
        <p:spPr>
          <a:xfrm>
            <a:off x="457200" y="3749040"/>
            <a:ext cx="2194560" cy="640080"/>
          </a:xfrm>
          <a:prstGeom prst="rect">
            <a:avLst/>
          </a:prstGeom>
          <a:noFill/>
          <a:ln/>
        </p:spPr>
        <p:txBody>
          <a:bodyPr wrap="square" lIns="0" tIns="0" rIns="0" bIns="0" rtlCol="0" anchor="t"/>
          <a:lstStyle/>
          <a:p>
            <a:pPr marL="0" indent="0" algn="l">
              <a:buNone/>
            </a:pPr>
            <a:r>
              <a:rPr lang="en-US" sz="1300" b="1" dirty="0">
                <a:solidFill>
                  <a:srgbClr val="000000"/>
                </a:solidFill>
                <a:latin typeface="Calibri" pitchFamily="34" charset="0"/>
                <a:ea typeface="Calibri" pitchFamily="34" charset="-122"/>
                <a:cs typeface="Calibri" pitchFamily="34" charset="-120"/>
              </a:rPr>
              <a:t>5. Decoding</a:t>
            </a:r>
            <a:endParaRPr lang="en-US" sz="1300" dirty="0"/>
          </a:p>
        </p:txBody>
      </p:sp>
      <p:sp>
        <p:nvSpPr>
          <p:cNvPr id="17" name="Text 14"/>
          <p:cNvSpPr/>
          <p:nvPr/>
        </p:nvSpPr>
        <p:spPr>
          <a:xfrm>
            <a:off x="2743200" y="3749040"/>
            <a:ext cx="6309360" cy="640080"/>
          </a:xfrm>
          <a:prstGeom prst="rect">
            <a:avLst/>
          </a:prstGeom>
          <a:noFill/>
          <a:ln/>
        </p:spPr>
        <p:txBody>
          <a:bodyPr wrap="square" lIns="0" tIns="0" rIns="0" bIns="0" rtlCol="0" anchor="t"/>
          <a:lstStyle/>
          <a:p>
            <a:pPr marL="0" indent="0" algn="l">
              <a:buNone/>
            </a:pPr>
            <a:r>
              <a:rPr lang="en-US" sz="1300" dirty="0">
                <a:solidFill>
                  <a:srgbClr val="000000"/>
                </a:solidFill>
                <a:latin typeface="Calibri" pitchFamily="34" charset="0"/>
                <a:ea typeface="Calibri" pitchFamily="34" charset="-122"/>
                <a:cs typeface="Calibri" pitchFamily="34" charset="-120"/>
              </a:rPr>
              <a:t>Fourth concept vector renders: "The court must determine whether the performance documentation was created before or after the EEOC complaint filing, as this sequence is material to the pretext analysis."</a:t>
            </a:r>
            <a:endParaRPr lang="en-US" sz="1300" dirty="0"/>
          </a:p>
        </p:txBody>
      </p:sp>
      <p:sp>
        <p:nvSpPr>
          <p:cNvPr id="18" name="Shape 15"/>
          <p:cNvSpPr/>
          <p:nvPr/>
        </p:nvSpPr>
        <p:spPr>
          <a:xfrm>
            <a:off x="2670048" y="1005840"/>
            <a:ext cx="0" cy="3383280"/>
          </a:xfrm>
          <a:prstGeom prst="line">
            <a:avLst/>
          </a:prstGeom>
          <a:noFill/>
          <a:ln w="9525">
            <a:solidFill>
              <a:srgbClr val="CCCCCC"/>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rgbClr val="000000"/>
                </a:solidFill>
                <a:latin typeface="Calibri" pitchFamily="34" charset="0"/>
                <a:ea typeface="Calibri" pitchFamily="34" charset="-122"/>
                <a:cs typeface="Calibri" pitchFamily="34" charset="-120"/>
              </a:rPr>
              <a:t>A4: What Needs to Be Built</a:t>
            </a:r>
            <a:endParaRPr lang="en-US" sz="3000" dirty="0"/>
          </a:p>
        </p:txBody>
      </p:sp>
      <p:sp>
        <p:nvSpPr>
          <p:cNvPr id="4" name="Text 1"/>
          <p:cNvSpPr/>
          <p:nvPr/>
        </p:nvSpPr>
        <p:spPr>
          <a:xfrm>
            <a:off x="457200" y="1005840"/>
            <a:ext cx="4023360" cy="320040"/>
          </a:xfrm>
          <a:prstGeom prst="rect">
            <a:avLst/>
          </a:prstGeom>
          <a:noFill/>
          <a:ln/>
        </p:spPr>
        <p:txBody>
          <a:bodyPr wrap="square" lIns="0" tIns="0" rIns="0" bIns="0" rtlCol="0" anchor="ctr"/>
          <a:lstStyle/>
          <a:p>
            <a:pPr marL="0" indent="0" algn="l">
              <a:buNone/>
            </a:pPr>
            <a:r>
              <a:rPr lang="en-US" sz="1400" b="1" dirty="0">
                <a:solidFill>
                  <a:srgbClr val="000000"/>
                </a:solidFill>
                <a:latin typeface="Calibri" pitchFamily="34" charset="0"/>
                <a:ea typeface="Calibri" pitchFamily="34" charset="-122"/>
                <a:cs typeface="Calibri" pitchFamily="34" charset="-120"/>
              </a:rPr>
              <a:t>Already implemented (skeleton)</a:t>
            </a:r>
            <a:endParaRPr lang="en-US" sz="1400" dirty="0"/>
          </a:p>
        </p:txBody>
      </p:sp>
      <p:sp>
        <p:nvSpPr>
          <p:cNvPr id="5" name="Text 2"/>
          <p:cNvSpPr/>
          <p:nvPr/>
        </p:nvSpPr>
        <p:spPr>
          <a:xfrm>
            <a:off x="4663440" y="1005840"/>
            <a:ext cx="4023360" cy="320040"/>
          </a:xfrm>
          <a:prstGeom prst="rect">
            <a:avLst/>
          </a:prstGeom>
          <a:noFill/>
          <a:ln/>
        </p:spPr>
        <p:txBody>
          <a:bodyPr wrap="square" lIns="0" tIns="0" rIns="0" bIns="0" rtlCol="0" anchor="ctr"/>
          <a:lstStyle/>
          <a:p>
            <a:pPr marL="0" indent="0" algn="l">
              <a:buNone/>
            </a:pPr>
            <a:r>
              <a:rPr lang="en-US" sz="1400" b="1" dirty="0">
                <a:solidFill>
                  <a:srgbClr val="000000"/>
                </a:solidFill>
                <a:latin typeface="Calibri" pitchFamily="34" charset="0"/>
                <a:ea typeface="Calibri" pitchFamily="34" charset="-122"/>
                <a:cs typeface="Calibri" pitchFamily="34" charset="-120"/>
              </a:rPr>
              <a:t>Not yet built</a:t>
            </a:r>
            <a:endParaRPr lang="en-US" sz="1400" dirty="0"/>
          </a:p>
        </p:txBody>
      </p:sp>
      <p:sp>
        <p:nvSpPr>
          <p:cNvPr id="6" name="Text 3"/>
          <p:cNvSpPr/>
          <p:nvPr/>
        </p:nvSpPr>
        <p:spPr>
          <a:xfrm>
            <a:off x="457200" y="1371600"/>
            <a:ext cx="4023360" cy="3474720"/>
          </a:xfrm>
          <a:prstGeom prst="rect">
            <a:avLst/>
          </a:prstGeom>
          <a:noFill/>
          <a:ln/>
        </p:spPr>
        <p:txBody>
          <a:bodyPr wrap="square" lIns="0" tIns="0" rIns="0" bIns="0" rtlCol="0" anchor="t"/>
          <a:lstStyle/>
          <a:p>
            <a:pPr marL="342900" indent="-342900" algn="l">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Boundary detector: cosine dissimilarity scoring, Bernoulli sampling, hard threshold at inference</a:t>
            </a:r>
            <a:endParaRPr lang="en-US" sz="1200" dirty="0"/>
          </a:p>
          <a:p>
            <a:pPr marL="342900" indent="-342900" algn="l">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Concept pooler: mean pooling within segments, linear projection to concept dimension</a:t>
            </a:r>
            <a:endParaRPr lang="en-US" sz="1200" dirty="0"/>
          </a:p>
          <a:p>
            <a:pPr marL="342900" indent="-342900" algn="l">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Concept transformer: causal Transformer operating on concept sequences</a:t>
            </a:r>
            <a:endParaRPr lang="en-US" sz="1200" dirty="0"/>
          </a:p>
          <a:p>
            <a:pPr marL="342900" indent="-342900" algn="l">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Cross-attention decoder: causal masking from tokens to source concepts</a:t>
            </a:r>
            <a:endParaRPr lang="en-US" sz="1200" dirty="0"/>
          </a:p>
          <a:p>
            <a:pPr marL="342900" indent="-342900" algn="l">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Training loop: decoupled LRs per component, joint NTP + boundary balancing loss</a:t>
            </a:r>
            <a:endParaRPr lang="en-US" sz="1200" dirty="0"/>
          </a:p>
          <a:p>
            <a:pPr marL="342900" indent="-342900" algn="l">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File parser: PDF, .txt, .docx, .py, .ipynb ingestion</a:t>
            </a:r>
            <a:endParaRPr lang="en-US" sz="1200" dirty="0"/>
          </a:p>
        </p:txBody>
      </p:sp>
      <p:sp>
        <p:nvSpPr>
          <p:cNvPr id="7" name="Text 4"/>
          <p:cNvSpPr/>
          <p:nvPr/>
        </p:nvSpPr>
        <p:spPr>
          <a:xfrm>
            <a:off x="4663440" y="1371600"/>
            <a:ext cx="4023360" cy="3474720"/>
          </a:xfrm>
          <a:prstGeom prst="rect">
            <a:avLst/>
          </a:prstGeom>
          <a:noFill/>
          <a:ln/>
        </p:spPr>
        <p:txBody>
          <a:bodyPr wrap="square" lIns="0" tIns="0" rIns="0" bIns="0" rtlCol="0" anchor="t"/>
          <a:lstStyle/>
          <a:p>
            <a:pPr marL="342900" indent="-342900" algn="l">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Concept encoder needs end-to-end training</a:t>
            </a:r>
          </a:p>
          <a:p>
            <a:pPr marL="800100" lvl="1"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Mean pooling loses ordering and token weight within segments; needs a proper segment-level Transformer encoder</a:t>
            </a:r>
            <a:endParaRPr lang="en-US" sz="1200" dirty="0"/>
          </a:p>
          <a:p>
            <a:pPr marL="342900" indent="-342900" algn="l">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Boundary detector has never seen data</a:t>
            </a:r>
          </a:p>
          <a:p>
            <a:pPr marL="800100" lvl="1"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Random init; needs warm-start phase on known sentence boundaries</a:t>
            </a:r>
            <a:endParaRPr lang="en-US" sz="1200" dirty="0"/>
          </a:p>
          <a:p>
            <a:pPr marL="342900" indent="-342900" algn="l">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Loss function needs a concept-level signal </a:t>
            </a:r>
          </a:p>
          <a:p>
            <a:pPr marL="800100" lvl="1"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Only NTP loss exists; no loss directly rewards predicting the correct next concept vector</a:t>
            </a:r>
            <a:endParaRPr lang="en-US" sz="1200" dirty="0"/>
          </a:p>
          <a:p>
            <a:pPr marL="342900" indent="-342900" algn="l">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Decoder needs dual-source attention </a:t>
            </a:r>
            <a:r>
              <a:rPr lang="en-US" sz="1200" dirty="0" err="1">
                <a:solidFill>
                  <a:srgbClr val="000000"/>
                </a:solidFill>
                <a:latin typeface="Calibri" pitchFamily="34" charset="0"/>
                <a:ea typeface="Calibri" pitchFamily="34" charset="-122"/>
                <a:cs typeface="Calibri" pitchFamily="34" charset="-120"/>
              </a:rPr>
              <a:t>bc</a:t>
            </a:r>
            <a:r>
              <a:rPr lang="en-US" sz="1200" dirty="0">
                <a:solidFill>
                  <a:srgbClr val="000000"/>
                </a:solidFill>
                <a:latin typeface="Calibri" pitchFamily="34" charset="0"/>
                <a:ea typeface="Calibri" pitchFamily="34" charset="-122"/>
                <a:cs typeface="Calibri" pitchFamily="34" charset="-120"/>
              </a:rPr>
              <a:t> currently only attends to concept vectors; needs secondary path to raw encoder states so names, statute numbers, dates survive</a:t>
            </a:r>
            <a:endParaRPr lang="en-US" sz="1200" dirty="0"/>
          </a:p>
          <a:p>
            <a:pPr marL="342900" indent="-342900" algn="l">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Inference-time concept caching: generate() recomputes all concepts from scratch at every token step; KV cache needed</a:t>
            </a:r>
            <a:endParaRPr lang="en-US" sz="1200" dirty="0"/>
          </a:p>
          <a:p>
            <a:pPr marL="342900" indent="-342900" algn="l">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Training has never been run so no checkpoint exists; no learned weights</a:t>
            </a:r>
            <a:endParaRPr lang="en-US" sz="1200" dirty="0"/>
          </a:p>
        </p:txBody>
      </p:sp>
      <p:sp>
        <p:nvSpPr>
          <p:cNvPr id="8" name="Shape 5"/>
          <p:cNvSpPr/>
          <p:nvPr/>
        </p:nvSpPr>
        <p:spPr>
          <a:xfrm>
            <a:off x="4553712" y="1005840"/>
            <a:ext cx="0" cy="3840480"/>
          </a:xfrm>
          <a:prstGeom prst="line">
            <a:avLst/>
          </a:prstGeom>
          <a:noFill/>
          <a:ln w="9525">
            <a:solidFill>
              <a:srgbClr val="CCCCCC"/>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rgbClr val="000000"/>
                </a:solidFill>
                <a:latin typeface="Calibri" pitchFamily="34" charset="0"/>
                <a:ea typeface="Calibri" pitchFamily="34" charset="-122"/>
                <a:cs typeface="Calibri" pitchFamily="34" charset="-120"/>
              </a:rPr>
              <a:t>A5: Current Limitations of the Full Vision</a:t>
            </a:r>
            <a:endParaRPr lang="en-US" sz="3000" dirty="0"/>
          </a:p>
        </p:txBody>
      </p:sp>
      <p:sp>
        <p:nvSpPr>
          <p:cNvPr id="4" name="Text 1"/>
          <p:cNvSpPr/>
          <p:nvPr/>
        </p:nvSpPr>
        <p:spPr>
          <a:xfrm>
            <a:off x="457200" y="1005840"/>
            <a:ext cx="2682240" cy="320040"/>
          </a:xfrm>
          <a:prstGeom prst="rect">
            <a:avLst/>
          </a:prstGeom>
          <a:noFill/>
          <a:ln/>
        </p:spPr>
        <p:txBody>
          <a:bodyPr wrap="square" lIns="0" tIns="0" rIns="0" bIns="0" rtlCol="0" anchor="ctr"/>
          <a:lstStyle/>
          <a:p>
            <a:pPr marL="0" indent="0" algn="l">
              <a:buNone/>
            </a:pPr>
            <a:r>
              <a:rPr lang="en-US" sz="1400" b="1" dirty="0">
                <a:solidFill>
                  <a:srgbClr val="000000"/>
                </a:solidFill>
                <a:latin typeface="Calibri" pitchFamily="34" charset="0"/>
                <a:ea typeface="Calibri" pitchFamily="34" charset="-122"/>
                <a:cs typeface="Calibri" pitchFamily="34" charset="-120"/>
              </a:rPr>
              <a:t>Conceptual</a:t>
            </a:r>
            <a:endParaRPr lang="en-US" sz="1400" dirty="0"/>
          </a:p>
        </p:txBody>
      </p:sp>
      <p:sp>
        <p:nvSpPr>
          <p:cNvPr id="5" name="Text 2"/>
          <p:cNvSpPr/>
          <p:nvPr/>
        </p:nvSpPr>
        <p:spPr>
          <a:xfrm>
            <a:off x="457200" y="1389888"/>
            <a:ext cx="2682240" cy="3456432"/>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No symbolic reasoning engine </a:t>
            </a:r>
            <a:r>
              <a:rPr lang="en-US" sz="1200" dirty="0">
                <a:solidFill>
                  <a:srgbClr val="000000"/>
                </a:solidFill>
                <a:latin typeface="Calibri" pitchFamily="34" charset="0"/>
                <a:ea typeface="Calibri" pitchFamily="34" charset="-122"/>
                <a:cs typeface="Calibri" pitchFamily="34" charset="-120"/>
                <a:sym typeface="Wingdings" pitchFamily="2" charset="2"/>
              </a:rPr>
              <a:t></a:t>
            </a:r>
            <a:r>
              <a:rPr lang="en-US" sz="1200" dirty="0">
                <a:solidFill>
                  <a:srgbClr val="000000"/>
                </a:solidFill>
                <a:latin typeface="Calibri" pitchFamily="34" charset="0"/>
                <a:ea typeface="Calibri" pitchFamily="34" charset="-122"/>
                <a:cs typeface="Calibri" pitchFamily="34" charset="-120"/>
              </a:rPr>
              <a:t> cannot guarantee logical validity; approximates legal reasoning statistically, not formally</a:t>
            </a:r>
            <a:endParaRPr lang="en-US" sz="1200" dirty="0"/>
          </a:p>
          <a:p>
            <a:pPr marL="342900" indent="-342900" algn="l">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Generated concept vectors may decode into fluent but wrong language</a:t>
            </a:r>
          </a:p>
          <a:p>
            <a:pPr marL="800100" lvl="1" indent="-3429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Continuous space has no semantic guarantees (our paper may end up showing this)</a:t>
            </a:r>
            <a:endParaRPr lang="en-US" sz="1200" dirty="0"/>
          </a:p>
          <a:p>
            <a:pPr marL="342900" indent="-342900" algn="l">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Cannot count, do arithmetic, or look up statutes</a:t>
            </a:r>
          </a:p>
          <a:p>
            <a:pPr marL="800100" lvl="1" indent="-3429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Requires retrieval or tool augmentation</a:t>
            </a:r>
            <a:endParaRPr lang="en-US" sz="1200" dirty="0"/>
          </a:p>
        </p:txBody>
      </p:sp>
      <p:sp>
        <p:nvSpPr>
          <p:cNvPr id="6" name="Text 3"/>
          <p:cNvSpPr/>
          <p:nvPr/>
        </p:nvSpPr>
        <p:spPr>
          <a:xfrm>
            <a:off x="3230880" y="1005840"/>
            <a:ext cx="2682240" cy="320040"/>
          </a:xfrm>
          <a:prstGeom prst="rect">
            <a:avLst/>
          </a:prstGeom>
          <a:noFill/>
          <a:ln/>
        </p:spPr>
        <p:txBody>
          <a:bodyPr wrap="square" lIns="0" tIns="0" rIns="0" bIns="0" rtlCol="0" anchor="ctr"/>
          <a:lstStyle/>
          <a:p>
            <a:pPr marL="0" indent="0" algn="l">
              <a:buNone/>
            </a:pPr>
            <a:r>
              <a:rPr lang="en-US" sz="1400" b="1" dirty="0">
                <a:solidFill>
                  <a:srgbClr val="000000"/>
                </a:solidFill>
                <a:latin typeface="Calibri" pitchFamily="34" charset="0"/>
                <a:ea typeface="Calibri" pitchFamily="34" charset="-122"/>
                <a:cs typeface="Calibri" pitchFamily="34" charset="-120"/>
              </a:rPr>
              <a:t>Architectural</a:t>
            </a:r>
            <a:endParaRPr lang="en-US" sz="1400" dirty="0"/>
          </a:p>
        </p:txBody>
      </p:sp>
      <p:sp>
        <p:nvSpPr>
          <p:cNvPr id="7" name="Text 4"/>
          <p:cNvSpPr/>
          <p:nvPr/>
        </p:nvSpPr>
        <p:spPr>
          <a:xfrm>
            <a:off x="3230880" y="1389888"/>
            <a:ext cx="2682240" cy="3456432"/>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Mean pooling loses token order within a segment </a:t>
            </a:r>
          </a:p>
          <a:p>
            <a:pPr marL="800100" lvl="1" indent="-3429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Word order invariance collapses distinct sentences to the same vector</a:t>
            </a:r>
            <a:endParaRPr lang="en-US" sz="1200" dirty="0"/>
          </a:p>
          <a:p>
            <a:pPr marL="342900" indent="-342900" algn="l">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Boundary detector uses cosine dissimilarity</a:t>
            </a:r>
          </a:p>
          <a:p>
            <a:pPr marL="800100" lvl="1" indent="-3429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Subtle legal standard shifts may not produce a representational spike</a:t>
            </a:r>
            <a:endParaRPr lang="en-US" sz="1200" dirty="0"/>
          </a:p>
          <a:p>
            <a:pPr marL="342900" indent="-342900" algn="l">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No mechanism for multi-hop reasoning and thus cannot chain: A implies B, B contradicts C, therefore reconsider A</a:t>
            </a:r>
            <a:endParaRPr lang="en-US" sz="1200" dirty="0"/>
          </a:p>
        </p:txBody>
      </p:sp>
      <p:sp>
        <p:nvSpPr>
          <p:cNvPr id="8" name="Text 5"/>
          <p:cNvSpPr/>
          <p:nvPr/>
        </p:nvSpPr>
        <p:spPr>
          <a:xfrm>
            <a:off x="6004560" y="1005840"/>
            <a:ext cx="2682240" cy="320040"/>
          </a:xfrm>
          <a:prstGeom prst="rect">
            <a:avLst/>
          </a:prstGeom>
          <a:noFill/>
          <a:ln/>
        </p:spPr>
        <p:txBody>
          <a:bodyPr wrap="square" lIns="0" tIns="0" rIns="0" bIns="0" rtlCol="0" anchor="ctr"/>
          <a:lstStyle/>
          <a:p>
            <a:pPr marL="0" indent="0" algn="l">
              <a:buNone/>
            </a:pPr>
            <a:r>
              <a:rPr lang="en-US" sz="1400" b="1" dirty="0">
                <a:solidFill>
                  <a:srgbClr val="000000"/>
                </a:solidFill>
                <a:latin typeface="Calibri" pitchFamily="34" charset="0"/>
                <a:ea typeface="Calibri" pitchFamily="34" charset="-122"/>
                <a:cs typeface="Calibri" pitchFamily="34" charset="-120"/>
              </a:rPr>
              <a:t>Scale</a:t>
            </a:r>
            <a:endParaRPr lang="en-US" sz="1400" dirty="0"/>
          </a:p>
        </p:txBody>
      </p:sp>
      <p:sp>
        <p:nvSpPr>
          <p:cNvPr id="9" name="Text 6"/>
          <p:cNvSpPr/>
          <p:nvPr/>
        </p:nvSpPr>
        <p:spPr>
          <a:xfrm>
            <a:off x="6004560" y="1389888"/>
            <a:ext cx="2682240" cy="3456432"/>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Reliable concept-level generalization requires ~500M-1B parameters</a:t>
            </a:r>
            <a:endParaRPr lang="en-US" sz="1200" dirty="0"/>
          </a:p>
          <a:p>
            <a:pPr marL="342900" indent="-342900" algn="l">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Training from scratch requires 10-100B tokens minimum</a:t>
            </a:r>
            <a:endParaRPr lang="en-US" sz="1200" dirty="0"/>
          </a:p>
          <a:p>
            <a:pPr marL="342900" indent="-342900" algn="l">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Neither compute nor data is currently available; capstone is scoped to demonstrate the pipeline and characterize failure modes</a:t>
            </a:r>
            <a:endParaRPr lang="en-US" sz="1200" dirty="0"/>
          </a:p>
        </p:txBody>
      </p:sp>
      <p:sp>
        <p:nvSpPr>
          <p:cNvPr id="10" name="Shape 7"/>
          <p:cNvSpPr/>
          <p:nvPr/>
        </p:nvSpPr>
        <p:spPr>
          <a:xfrm>
            <a:off x="3166872" y="1005840"/>
            <a:ext cx="0" cy="3840480"/>
          </a:xfrm>
          <a:prstGeom prst="line">
            <a:avLst/>
          </a:prstGeom>
          <a:noFill/>
          <a:ln w="9525">
            <a:solidFill>
              <a:srgbClr val="CCCCCC"/>
            </a:solidFill>
            <a:prstDash val="solid"/>
          </a:ln>
        </p:spPr>
        <p:txBody>
          <a:bodyPr/>
          <a:lstStyle/>
          <a:p>
            <a:endParaRPr lang="en-US"/>
          </a:p>
        </p:txBody>
      </p:sp>
      <p:sp>
        <p:nvSpPr>
          <p:cNvPr id="11" name="Shape 8"/>
          <p:cNvSpPr/>
          <p:nvPr/>
        </p:nvSpPr>
        <p:spPr>
          <a:xfrm>
            <a:off x="5940552" y="1005840"/>
            <a:ext cx="0" cy="3840480"/>
          </a:xfrm>
          <a:prstGeom prst="line">
            <a:avLst/>
          </a:prstGeom>
          <a:noFill/>
          <a:ln w="9525">
            <a:solidFill>
              <a:srgbClr val="CCCCCC"/>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640080"/>
          </a:xfrm>
          <a:prstGeom prst="rect">
            <a:avLst/>
          </a:prstGeom>
          <a:noFill/>
          <a:ln/>
        </p:spPr>
        <p:txBody>
          <a:bodyPr wrap="square" lIns="0" tIns="0" rIns="0" bIns="0" rtlCol="0" anchor="ctr"/>
          <a:lstStyle/>
          <a:p>
            <a:pPr marL="0" indent="0" algn="l">
              <a:buNone/>
            </a:pPr>
            <a:r>
              <a:rPr lang="en-US" sz="3800" b="1" dirty="0">
                <a:solidFill>
                  <a:srgbClr val="000000"/>
                </a:solidFill>
                <a:latin typeface="Calibri" pitchFamily="34" charset="0"/>
                <a:ea typeface="Calibri" pitchFamily="34" charset="-122"/>
                <a:cs typeface="Calibri" pitchFamily="34" charset="-120"/>
              </a:rPr>
              <a:t>Section B</a:t>
            </a:r>
            <a:endParaRPr lang="en-US" sz="3800" dirty="0"/>
          </a:p>
        </p:txBody>
      </p:sp>
      <p:sp>
        <p:nvSpPr>
          <p:cNvPr id="3" name="Text 1"/>
          <p:cNvSpPr/>
          <p:nvPr/>
        </p:nvSpPr>
        <p:spPr>
          <a:xfrm>
            <a:off x="457200" y="2377440"/>
            <a:ext cx="8229600" cy="457200"/>
          </a:xfrm>
          <a:prstGeom prst="rect">
            <a:avLst/>
          </a:prstGeom>
          <a:noFill/>
          <a:ln/>
        </p:spPr>
        <p:txBody>
          <a:bodyPr wrap="square" lIns="0" tIns="0" rIns="0" bIns="0" rtlCol="0" anchor="ctr"/>
          <a:lstStyle/>
          <a:p>
            <a:pPr marL="0" indent="0" algn="l">
              <a:buNone/>
            </a:pPr>
            <a:r>
              <a:rPr lang="en-US" sz="2200" dirty="0">
                <a:solidFill>
                  <a:srgbClr val="555555"/>
                </a:solidFill>
                <a:latin typeface="Calibri" pitchFamily="34" charset="0"/>
                <a:ea typeface="Calibri" pitchFamily="34" charset="-122"/>
                <a:cs typeface="Calibri" pitchFamily="34" charset="-120"/>
              </a:rPr>
              <a:t>The Current Code: What It Does and Where It’s Falling Short </a:t>
            </a:r>
            <a:r>
              <a:rPr lang="en-US" sz="2200" dirty="0" err="1">
                <a:solidFill>
                  <a:srgbClr val="555555"/>
                </a:solidFill>
                <a:latin typeface="Calibri" pitchFamily="34" charset="0"/>
                <a:ea typeface="Calibri" pitchFamily="34" charset="-122"/>
                <a:cs typeface="Calibri" pitchFamily="34" charset="-120"/>
              </a:rPr>
              <a:t>rn</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rgbClr val="000000"/>
                </a:solidFill>
                <a:latin typeface="Calibri" pitchFamily="34" charset="0"/>
                <a:ea typeface="Calibri" pitchFamily="34" charset="-122"/>
                <a:cs typeface="Calibri" pitchFamily="34" charset="-120"/>
              </a:rPr>
              <a:t>B1: file_parser.py: What It Does</a:t>
            </a:r>
            <a:endParaRPr lang="en-US" sz="3000" dirty="0"/>
          </a:p>
        </p:txBody>
      </p:sp>
      <p:sp>
        <p:nvSpPr>
          <p:cNvPr id="4" name="Text 1"/>
          <p:cNvSpPr/>
          <p:nvPr/>
        </p:nvSpPr>
        <p:spPr>
          <a:xfrm>
            <a:off x="457200" y="1005840"/>
            <a:ext cx="4046220" cy="320040"/>
          </a:xfrm>
          <a:prstGeom prst="rect">
            <a:avLst/>
          </a:prstGeom>
          <a:noFill/>
          <a:ln/>
        </p:spPr>
        <p:txBody>
          <a:bodyPr wrap="square" lIns="0" tIns="0" rIns="0" bIns="0" rtlCol="0" anchor="ctr"/>
          <a:lstStyle/>
          <a:p>
            <a:pPr marL="0" indent="0" algn="l">
              <a:buNone/>
            </a:pPr>
            <a:r>
              <a:rPr lang="en-US" sz="1400" b="1" dirty="0">
                <a:solidFill>
                  <a:srgbClr val="000000"/>
                </a:solidFill>
                <a:latin typeface="Calibri" pitchFamily="34" charset="0"/>
                <a:ea typeface="Calibri" pitchFamily="34" charset="-122"/>
                <a:cs typeface="Calibri" pitchFamily="34" charset="-120"/>
              </a:rPr>
              <a:t>Purpose &amp; Output</a:t>
            </a:r>
            <a:endParaRPr lang="en-US" sz="1400" dirty="0"/>
          </a:p>
        </p:txBody>
      </p:sp>
      <p:sp>
        <p:nvSpPr>
          <p:cNvPr id="5" name="Text 2"/>
          <p:cNvSpPr/>
          <p:nvPr/>
        </p:nvSpPr>
        <p:spPr>
          <a:xfrm>
            <a:off x="4640580" y="1005840"/>
            <a:ext cx="4046220" cy="320040"/>
          </a:xfrm>
          <a:prstGeom prst="rect">
            <a:avLst/>
          </a:prstGeom>
          <a:noFill/>
          <a:ln/>
        </p:spPr>
        <p:txBody>
          <a:bodyPr wrap="square" lIns="0" tIns="0" rIns="0" bIns="0" rtlCol="0" anchor="ctr"/>
          <a:lstStyle/>
          <a:p>
            <a:pPr marL="0" indent="0" algn="l">
              <a:buNone/>
            </a:pPr>
            <a:r>
              <a:rPr lang="en-US" sz="1400" b="1" dirty="0">
                <a:solidFill>
                  <a:srgbClr val="000000"/>
                </a:solidFill>
                <a:latin typeface="Calibri" pitchFamily="34" charset="0"/>
                <a:ea typeface="Calibri" pitchFamily="34" charset="-122"/>
                <a:cs typeface="Calibri" pitchFamily="34" charset="-120"/>
              </a:rPr>
              <a:t>Per-format behavior</a:t>
            </a:r>
            <a:endParaRPr lang="en-US" sz="1400" dirty="0"/>
          </a:p>
        </p:txBody>
      </p:sp>
      <p:sp>
        <p:nvSpPr>
          <p:cNvPr id="6" name="Text 3"/>
          <p:cNvSpPr/>
          <p:nvPr/>
        </p:nvSpPr>
        <p:spPr>
          <a:xfrm>
            <a:off x="457200" y="1389888"/>
            <a:ext cx="4046220" cy="1097280"/>
          </a:xfrm>
          <a:prstGeom prst="rect">
            <a:avLst/>
          </a:prstGeom>
          <a:noFill/>
          <a:ln/>
        </p:spPr>
        <p:txBody>
          <a:bodyPr wrap="square" lIns="0" tIns="0" rIns="0" bIns="0" rtlCol="0" anchor="t"/>
          <a:lstStyle/>
          <a:p>
            <a:pPr marL="342900" indent="-342900" algn="l">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Converts raw files into List[TextSegment] for downstream modules</a:t>
            </a:r>
            <a:endParaRPr lang="en-US" sz="1300" dirty="0"/>
          </a:p>
          <a:p>
            <a:pPr marL="342900" indent="-342900" algn="l">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Supported: .pdf, .py, .md, .txt, .docx, .ipynb, .rst</a:t>
            </a:r>
            <a:endParaRPr lang="en-US" sz="1300" dirty="0"/>
          </a:p>
          <a:p>
            <a:pPr marL="342900" indent="-342900" algn="l">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Each TextSegment carries: .text, .source, .segment_type, .position</a:t>
            </a:r>
            <a:endParaRPr lang="en-US" sz="1300" dirty="0"/>
          </a:p>
        </p:txBody>
      </p:sp>
      <p:sp>
        <p:nvSpPr>
          <p:cNvPr id="7" name="Text 4"/>
          <p:cNvSpPr/>
          <p:nvPr/>
        </p:nvSpPr>
        <p:spPr>
          <a:xfrm>
            <a:off x="4640580" y="1389888"/>
            <a:ext cx="1005840" cy="493776"/>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PDF</a:t>
            </a:r>
            <a:endParaRPr lang="en-US" sz="1200" dirty="0"/>
          </a:p>
        </p:txBody>
      </p:sp>
      <p:sp>
        <p:nvSpPr>
          <p:cNvPr id="8" name="Text 5"/>
          <p:cNvSpPr/>
          <p:nvPr/>
        </p:nvSpPr>
        <p:spPr>
          <a:xfrm>
            <a:off x="5692140" y="1389888"/>
            <a:ext cx="2994660" cy="493776"/>
          </a:xfrm>
          <a:prstGeom prst="rect">
            <a:avLst/>
          </a:prstGeom>
          <a:noFill/>
          <a:ln/>
        </p:spPr>
        <p:txBody>
          <a:bodyPr wrap="square" lIns="0" tIns="0" rIns="0" bIns="0" rtlCol="0" anchor="t"/>
          <a:lstStyle/>
          <a:p>
            <a:pPr marL="0" indent="0" algn="l">
              <a:buNone/>
            </a:pPr>
            <a:r>
              <a:rPr lang="en-US" sz="1100" dirty="0">
                <a:solidFill>
                  <a:srgbClr val="000000"/>
                </a:solidFill>
                <a:latin typeface="Calibri" pitchFamily="34" charset="0"/>
                <a:ea typeface="Calibri" pitchFamily="34" charset="-122"/>
                <a:cs typeface="Calibri" pitchFamily="34" charset="-120"/>
              </a:rPr>
              <a:t>PyMuPDF extracts text blocks per page; short narrow blocks = headings, longer = paragraphs</a:t>
            </a:r>
            <a:endParaRPr lang="en-US" sz="1100" dirty="0"/>
          </a:p>
        </p:txBody>
      </p:sp>
      <p:sp>
        <p:nvSpPr>
          <p:cNvPr id="9" name="Shape 6"/>
          <p:cNvSpPr/>
          <p:nvPr/>
        </p:nvSpPr>
        <p:spPr>
          <a:xfrm>
            <a:off x="4640580" y="1865376"/>
            <a:ext cx="4046220" cy="0"/>
          </a:xfrm>
          <a:prstGeom prst="line">
            <a:avLst/>
          </a:prstGeom>
          <a:noFill/>
          <a:ln w="6350">
            <a:solidFill>
              <a:srgbClr val="EEEEEE"/>
            </a:solidFill>
            <a:prstDash val="solid"/>
          </a:ln>
        </p:spPr>
        <p:txBody>
          <a:bodyPr/>
          <a:lstStyle/>
          <a:p>
            <a:endParaRPr lang="en-US"/>
          </a:p>
        </p:txBody>
      </p:sp>
      <p:sp>
        <p:nvSpPr>
          <p:cNvPr id="10" name="Text 7"/>
          <p:cNvSpPr/>
          <p:nvPr/>
        </p:nvSpPr>
        <p:spPr>
          <a:xfrm>
            <a:off x="4640580" y="1920240"/>
            <a:ext cx="1005840" cy="493776"/>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Python</a:t>
            </a:r>
            <a:endParaRPr lang="en-US" sz="1200" dirty="0"/>
          </a:p>
        </p:txBody>
      </p:sp>
      <p:sp>
        <p:nvSpPr>
          <p:cNvPr id="11" name="Text 8"/>
          <p:cNvSpPr/>
          <p:nvPr/>
        </p:nvSpPr>
        <p:spPr>
          <a:xfrm>
            <a:off x="5692140" y="1920240"/>
            <a:ext cx="2994660" cy="493776"/>
          </a:xfrm>
          <a:prstGeom prst="rect">
            <a:avLst/>
          </a:prstGeom>
          <a:noFill/>
          <a:ln/>
        </p:spPr>
        <p:txBody>
          <a:bodyPr wrap="square" lIns="0" tIns="0" rIns="0" bIns="0" rtlCol="0" anchor="t"/>
          <a:lstStyle/>
          <a:p>
            <a:pPr marL="0" indent="0" algn="l">
              <a:buNone/>
            </a:pPr>
            <a:r>
              <a:rPr lang="en-US" sz="1100" dirty="0">
                <a:solidFill>
                  <a:srgbClr val="000000"/>
                </a:solidFill>
                <a:latin typeface="Calibri" pitchFamily="34" charset="0"/>
                <a:ea typeface="Calibri" pitchFamily="34" charset="-122"/>
                <a:cs typeface="Calibri" pitchFamily="34" charset="-120"/>
              </a:rPr>
              <a:t>ast module parses source tree; functions and classes as named units; falls back to blank-line split on syntax errors</a:t>
            </a:r>
            <a:endParaRPr lang="en-US" sz="1100" dirty="0"/>
          </a:p>
        </p:txBody>
      </p:sp>
      <p:sp>
        <p:nvSpPr>
          <p:cNvPr id="12" name="Shape 9"/>
          <p:cNvSpPr/>
          <p:nvPr/>
        </p:nvSpPr>
        <p:spPr>
          <a:xfrm>
            <a:off x="4640580" y="2395728"/>
            <a:ext cx="4046220" cy="0"/>
          </a:xfrm>
          <a:prstGeom prst="line">
            <a:avLst/>
          </a:prstGeom>
          <a:noFill/>
          <a:ln w="6350">
            <a:solidFill>
              <a:srgbClr val="EEEEEE"/>
            </a:solidFill>
            <a:prstDash val="solid"/>
          </a:ln>
        </p:spPr>
        <p:txBody>
          <a:bodyPr/>
          <a:lstStyle/>
          <a:p>
            <a:endParaRPr lang="en-US"/>
          </a:p>
        </p:txBody>
      </p:sp>
      <p:sp>
        <p:nvSpPr>
          <p:cNvPr id="13" name="Text 10"/>
          <p:cNvSpPr/>
          <p:nvPr/>
        </p:nvSpPr>
        <p:spPr>
          <a:xfrm>
            <a:off x="4640580" y="2450592"/>
            <a:ext cx="1005840" cy="493776"/>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Markdown</a:t>
            </a:r>
            <a:endParaRPr lang="en-US" sz="1200" dirty="0"/>
          </a:p>
        </p:txBody>
      </p:sp>
      <p:sp>
        <p:nvSpPr>
          <p:cNvPr id="14" name="Text 11"/>
          <p:cNvSpPr/>
          <p:nvPr/>
        </p:nvSpPr>
        <p:spPr>
          <a:xfrm>
            <a:off x="5692140" y="2450592"/>
            <a:ext cx="2994660" cy="493776"/>
          </a:xfrm>
          <a:prstGeom prst="rect">
            <a:avLst/>
          </a:prstGeom>
          <a:noFill/>
          <a:ln/>
        </p:spPr>
        <p:txBody>
          <a:bodyPr wrap="square" lIns="0" tIns="0" rIns="0" bIns="0" rtlCol="0" anchor="t"/>
          <a:lstStyle/>
          <a:p>
            <a:pPr marL="0" indent="0" algn="l">
              <a:buNone/>
            </a:pPr>
            <a:r>
              <a:rPr lang="en-US" sz="1100" dirty="0">
                <a:solidFill>
                  <a:srgbClr val="000000"/>
                </a:solidFill>
                <a:latin typeface="Calibri" pitchFamily="34" charset="0"/>
                <a:ea typeface="Calibri" pitchFamily="34" charset="-122"/>
                <a:cs typeface="Calibri" pitchFamily="34" charset="-120"/>
              </a:rPr>
              <a:t>Splits on heading markers (# through ######); each section + content = one segment</a:t>
            </a:r>
            <a:endParaRPr lang="en-US" sz="1100" dirty="0"/>
          </a:p>
        </p:txBody>
      </p:sp>
      <p:sp>
        <p:nvSpPr>
          <p:cNvPr id="15" name="Shape 12"/>
          <p:cNvSpPr/>
          <p:nvPr/>
        </p:nvSpPr>
        <p:spPr>
          <a:xfrm>
            <a:off x="4640580" y="2926080"/>
            <a:ext cx="4046220" cy="0"/>
          </a:xfrm>
          <a:prstGeom prst="line">
            <a:avLst/>
          </a:prstGeom>
          <a:noFill/>
          <a:ln w="6350">
            <a:solidFill>
              <a:srgbClr val="EEEEEE"/>
            </a:solidFill>
            <a:prstDash val="solid"/>
          </a:ln>
        </p:spPr>
        <p:txBody>
          <a:bodyPr/>
          <a:lstStyle/>
          <a:p>
            <a:endParaRPr lang="en-US"/>
          </a:p>
        </p:txBody>
      </p:sp>
      <p:sp>
        <p:nvSpPr>
          <p:cNvPr id="16" name="Text 13"/>
          <p:cNvSpPr/>
          <p:nvPr/>
        </p:nvSpPr>
        <p:spPr>
          <a:xfrm>
            <a:off x="4640580" y="2980944"/>
            <a:ext cx="1005840" cy="493776"/>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Plain text / RST</a:t>
            </a:r>
            <a:endParaRPr lang="en-US" sz="1200" dirty="0"/>
          </a:p>
        </p:txBody>
      </p:sp>
      <p:sp>
        <p:nvSpPr>
          <p:cNvPr id="17" name="Text 14"/>
          <p:cNvSpPr/>
          <p:nvPr/>
        </p:nvSpPr>
        <p:spPr>
          <a:xfrm>
            <a:off x="5692140" y="2980944"/>
            <a:ext cx="2994660" cy="493776"/>
          </a:xfrm>
          <a:prstGeom prst="rect">
            <a:avLst/>
          </a:prstGeom>
          <a:noFill/>
          <a:ln/>
        </p:spPr>
        <p:txBody>
          <a:bodyPr wrap="square" lIns="0" tIns="0" rIns="0" bIns="0" rtlCol="0" anchor="t"/>
          <a:lstStyle/>
          <a:p>
            <a:pPr marL="0" indent="0" algn="l">
              <a:buNone/>
            </a:pPr>
            <a:r>
              <a:rPr lang="en-US" sz="1100" dirty="0">
                <a:solidFill>
                  <a:srgbClr val="000000"/>
                </a:solidFill>
                <a:latin typeface="Calibri" pitchFamily="34" charset="0"/>
                <a:ea typeface="Calibri" pitchFamily="34" charset="-122"/>
                <a:cs typeface="Calibri" pitchFamily="34" charset="-120"/>
              </a:rPr>
              <a:t>Splits on blank lines; each paragraph = one segment</a:t>
            </a:r>
            <a:endParaRPr lang="en-US" sz="1100" dirty="0"/>
          </a:p>
        </p:txBody>
      </p:sp>
      <p:sp>
        <p:nvSpPr>
          <p:cNvPr id="18" name="Shape 15"/>
          <p:cNvSpPr/>
          <p:nvPr/>
        </p:nvSpPr>
        <p:spPr>
          <a:xfrm>
            <a:off x="4640580" y="3456432"/>
            <a:ext cx="4046220" cy="0"/>
          </a:xfrm>
          <a:prstGeom prst="line">
            <a:avLst/>
          </a:prstGeom>
          <a:noFill/>
          <a:ln w="6350">
            <a:solidFill>
              <a:srgbClr val="EEEEEE"/>
            </a:solidFill>
            <a:prstDash val="solid"/>
          </a:ln>
        </p:spPr>
        <p:txBody>
          <a:bodyPr/>
          <a:lstStyle/>
          <a:p>
            <a:endParaRPr lang="en-US"/>
          </a:p>
        </p:txBody>
      </p:sp>
      <p:sp>
        <p:nvSpPr>
          <p:cNvPr id="19" name="Text 16"/>
          <p:cNvSpPr/>
          <p:nvPr/>
        </p:nvSpPr>
        <p:spPr>
          <a:xfrm>
            <a:off x="4640580" y="3511296"/>
            <a:ext cx="1005840" cy="493776"/>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Word (.docx)</a:t>
            </a:r>
            <a:endParaRPr lang="en-US" sz="1200" dirty="0"/>
          </a:p>
        </p:txBody>
      </p:sp>
      <p:sp>
        <p:nvSpPr>
          <p:cNvPr id="20" name="Text 17"/>
          <p:cNvSpPr/>
          <p:nvPr/>
        </p:nvSpPr>
        <p:spPr>
          <a:xfrm>
            <a:off x="5692140" y="3511296"/>
            <a:ext cx="2994660" cy="493776"/>
          </a:xfrm>
          <a:prstGeom prst="rect">
            <a:avLst/>
          </a:prstGeom>
          <a:noFill/>
          <a:ln/>
        </p:spPr>
        <p:txBody>
          <a:bodyPr wrap="square" lIns="0" tIns="0" rIns="0" bIns="0" rtlCol="0" anchor="t"/>
          <a:lstStyle/>
          <a:p>
            <a:pPr marL="0" indent="0" algn="l">
              <a:buNone/>
            </a:pPr>
            <a:r>
              <a:rPr lang="en-US" sz="1100" dirty="0">
                <a:solidFill>
                  <a:srgbClr val="000000"/>
                </a:solidFill>
                <a:latin typeface="Calibri" pitchFamily="34" charset="0"/>
                <a:ea typeface="Calibri" pitchFamily="34" charset="-122"/>
                <a:cs typeface="Calibri" pitchFamily="34" charset="-120"/>
              </a:rPr>
              <a:t>Iterates paragraphs; uses Word paragraph style name to distinguish headings from body</a:t>
            </a:r>
            <a:endParaRPr lang="en-US" sz="1100" dirty="0"/>
          </a:p>
        </p:txBody>
      </p:sp>
      <p:sp>
        <p:nvSpPr>
          <p:cNvPr id="21" name="Shape 18"/>
          <p:cNvSpPr/>
          <p:nvPr/>
        </p:nvSpPr>
        <p:spPr>
          <a:xfrm>
            <a:off x="4640580" y="3986784"/>
            <a:ext cx="4046220" cy="0"/>
          </a:xfrm>
          <a:prstGeom prst="line">
            <a:avLst/>
          </a:prstGeom>
          <a:noFill/>
          <a:ln w="6350">
            <a:solidFill>
              <a:srgbClr val="EEEEEE"/>
            </a:solidFill>
            <a:prstDash val="solid"/>
          </a:ln>
        </p:spPr>
        <p:txBody>
          <a:bodyPr/>
          <a:lstStyle/>
          <a:p>
            <a:endParaRPr lang="en-US"/>
          </a:p>
        </p:txBody>
      </p:sp>
      <p:sp>
        <p:nvSpPr>
          <p:cNvPr id="22" name="Text 19"/>
          <p:cNvSpPr/>
          <p:nvPr/>
        </p:nvSpPr>
        <p:spPr>
          <a:xfrm>
            <a:off x="4640580" y="4041648"/>
            <a:ext cx="1005840" cy="493776"/>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Jupyter</a:t>
            </a:r>
            <a:endParaRPr lang="en-US" sz="1200" dirty="0"/>
          </a:p>
        </p:txBody>
      </p:sp>
      <p:sp>
        <p:nvSpPr>
          <p:cNvPr id="23" name="Text 20"/>
          <p:cNvSpPr/>
          <p:nvPr/>
        </p:nvSpPr>
        <p:spPr>
          <a:xfrm>
            <a:off x="5692140" y="4041648"/>
            <a:ext cx="2994660" cy="493776"/>
          </a:xfrm>
          <a:prstGeom prst="rect">
            <a:avLst/>
          </a:prstGeom>
          <a:noFill/>
          <a:ln/>
        </p:spPr>
        <p:txBody>
          <a:bodyPr wrap="square" lIns="0" tIns="0" rIns="0" bIns="0" rtlCol="0" anchor="t"/>
          <a:lstStyle/>
          <a:p>
            <a:pPr marL="0" indent="0" algn="l">
              <a:buNone/>
            </a:pPr>
            <a:r>
              <a:rPr lang="en-US" sz="1100" dirty="0">
                <a:solidFill>
                  <a:srgbClr val="000000"/>
                </a:solidFill>
                <a:latin typeface="Calibri" pitchFamily="34" charset="0"/>
                <a:ea typeface="Calibri" pitchFamily="34" charset="-122"/>
                <a:cs typeface="Calibri" pitchFamily="34" charset="-120"/>
              </a:rPr>
              <a:t>Reads notebook cell structure via nbformat; each cell = segment typed as code_cell or markdown_cell</a:t>
            </a:r>
            <a:endParaRPr lang="en-US" sz="1100" dirty="0"/>
          </a:p>
        </p:txBody>
      </p:sp>
      <p:sp>
        <p:nvSpPr>
          <p:cNvPr id="24" name="Shape 21"/>
          <p:cNvSpPr/>
          <p:nvPr/>
        </p:nvSpPr>
        <p:spPr>
          <a:xfrm>
            <a:off x="4549140" y="1005840"/>
            <a:ext cx="0" cy="3840480"/>
          </a:xfrm>
          <a:prstGeom prst="line">
            <a:avLst/>
          </a:prstGeom>
          <a:noFill/>
          <a:ln w="9525">
            <a:solidFill>
              <a:srgbClr val="CCCCCC"/>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rgbClr val="000000"/>
                </a:solidFill>
                <a:latin typeface="Calibri" pitchFamily="34" charset="0"/>
                <a:ea typeface="Calibri" pitchFamily="34" charset="-122"/>
                <a:cs typeface="Calibri" pitchFamily="34" charset="-120"/>
              </a:rPr>
              <a:t>B2: </a:t>
            </a:r>
            <a:r>
              <a:rPr lang="en-US" sz="3000" b="1" dirty="0" err="1">
                <a:solidFill>
                  <a:srgbClr val="000000"/>
                </a:solidFill>
                <a:latin typeface="Calibri" pitchFamily="34" charset="0"/>
                <a:ea typeface="Calibri" pitchFamily="34" charset="-122"/>
                <a:cs typeface="Calibri" pitchFamily="34" charset="-120"/>
              </a:rPr>
              <a:t>file_parser.py</a:t>
            </a:r>
            <a:r>
              <a:rPr lang="en-US" sz="3000" b="1" dirty="0">
                <a:solidFill>
                  <a:srgbClr val="000000"/>
                </a:solidFill>
                <a:latin typeface="Calibri" pitchFamily="34" charset="0"/>
                <a:ea typeface="Calibri" pitchFamily="34" charset="-122"/>
                <a:cs typeface="Calibri" pitchFamily="34" charset="-120"/>
              </a:rPr>
              <a:t> - Limitations</a:t>
            </a:r>
            <a:endParaRPr lang="en-US" sz="3000" dirty="0"/>
          </a:p>
        </p:txBody>
      </p:sp>
      <p:sp>
        <p:nvSpPr>
          <p:cNvPr id="4" name="Text 1"/>
          <p:cNvSpPr/>
          <p:nvPr/>
        </p:nvSpPr>
        <p:spPr>
          <a:xfrm>
            <a:off x="457200" y="1005840"/>
            <a:ext cx="8229600" cy="3840480"/>
          </a:xfrm>
          <a:prstGeom prst="rect">
            <a:avLst/>
          </a:prstGeom>
          <a:noFill/>
          <a:ln/>
        </p:spPr>
        <p:txBody>
          <a:bodyPr wrap="square" lIns="0" tIns="0" rIns="0" bIns="0" rtlCol="0" anchor="t"/>
          <a:lstStyle/>
          <a:p>
            <a:pPr marL="342900" indent="-342900" algn="l">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1. Segment boundaries are heuristic, not semantic</a:t>
            </a:r>
            <a:endParaRPr lang="en-US" sz="1600" dirty="0"/>
          </a:p>
          <a:p>
            <a:pPr marL="685800" lvl="1" indent="-342900" algn="l">
              <a:spcAft>
                <a:spcPts val="200"/>
              </a:spcAft>
              <a:buSzPct val="100000"/>
              <a:buChar char="•"/>
            </a:pPr>
            <a:r>
              <a:rPr lang="en-US" sz="1300" dirty="0">
                <a:solidFill>
                  <a:srgbClr val="000000"/>
                </a:solidFill>
                <a:latin typeface="Calibri" pitchFamily="34" charset="0"/>
                <a:ea typeface="Calibri" pitchFamily="34" charset="-122"/>
                <a:cs typeface="Calibri" pitchFamily="34" charset="-120"/>
              </a:rPr>
              <a:t>Blank-line splitting and heading detection are layout-based; a 3-line paragraph and a 40-line paragraph are both "one segment"</a:t>
            </a:r>
            <a:endParaRPr lang="en-US" sz="1600" dirty="0"/>
          </a:p>
          <a:p>
            <a:pPr marL="685800" lvl="1" indent="-342900" algn="l">
              <a:spcAft>
                <a:spcPts val="200"/>
              </a:spcAft>
              <a:buSzPct val="100000"/>
              <a:buChar char="•"/>
            </a:pPr>
            <a:r>
              <a:rPr lang="en-US" sz="1300" dirty="0">
                <a:solidFill>
                  <a:srgbClr val="000000"/>
                </a:solidFill>
                <a:latin typeface="Calibri" pitchFamily="34" charset="0"/>
                <a:ea typeface="Calibri" pitchFamily="34" charset="-122"/>
                <a:cs typeface="Calibri" pitchFamily="34" charset="-120"/>
              </a:rPr>
              <a:t>No relationship to where the concept transformer would want to place boundaries</a:t>
            </a:r>
            <a:endParaRPr lang="en-US" sz="1600" dirty="0"/>
          </a:p>
          <a:p>
            <a:pPr marL="342900" indent="-342900" algn="l">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2. No legal-specific structure handling</a:t>
            </a:r>
            <a:endParaRPr lang="en-US" sz="1600" dirty="0"/>
          </a:p>
          <a:p>
            <a:pPr marL="685800" lvl="1" indent="-342900" algn="l">
              <a:spcAft>
                <a:spcPts val="200"/>
              </a:spcAft>
              <a:buSzPct val="100000"/>
              <a:buChar char="•"/>
            </a:pPr>
            <a:r>
              <a:rPr lang="en-US" sz="1300" dirty="0">
                <a:solidFill>
                  <a:srgbClr val="000000"/>
                </a:solidFill>
                <a:latin typeface="Calibri" pitchFamily="34" charset="0"/>
                <a:ea typeface="Calibri" pitchFamily="34" charset="-122"/>
                <a:cs typeface="Calibri" pitchFamily="34" charset="-120"/>
              </a:rPr>
              <a:t>Case headers, citation blocks, footnotes, numbered paragraphs, exhibit references are not distinguished; footnotes pollute the main argument text inline</a:t>
            </a:r>
            <a:endParaRPr lang="en-US" sz="1600" dirty="0"/>
          </a:p>
          <a:p>
            <a:pPr marL="685800" lvl="1" indent="-342900" algn="l">
              <a:spcAft>
                <a:spcPts val="200"/>
              </a:spcAft>
              <a:buSzPct val="100000"/>
              <a:buChar char="•"/>
            </a:pPr>
            <a:r>
              <a:rPr lang="en-US" sz="1300" dirty="0">
                <a:solidFill>
                  <a:srgbClr val="000000"/>
                </a:solidFill>
                <a:latin typeface="Calibri" pitchFamily="34" charset="0"/>
                <a:ea typeface="Calibri" pitchFamily="34" charset="-122"/>
                <a:cs typeface="Calibri" pitchFamily="34" charset="-120"/>
              </a:rPr>
              <a:t>Citation strings (e.g. "McDonnell Douglas Corp. v. Green, 411 U.S. 792 (1973)") parsed as ordinary paragraphs</a:t>
            </a:r>
            <a:endParaRPr lang="en-US" sz="1600" dirty="0"/>
          </a:p>
          <a:p>
            <a:pPr marL="342900" indent="-342900" algn="l">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3. PDF extraction is block-based, not sentence-based</a:t>
            </a:r>
            <a:endParaRPr lang="en-US" sz="1600" dirty="0"/>
          </a:p>
          <a:p>
            <a:pPr marL="685800" lvl="1" indent="-342900" algn="l">
              <a:spcAft>
                <a:spcPts val="200"/>
              </a:spcAft>
              <a:buSzPct val="100000"/>
              <a:buChar char="•"/>
            </a:pPr>
            <a:r>
              <a:rPr lang="en-US" sz="1300" dirty="0">
                <a:solidFill>
                  <a:srgbClr val="000000"/>
                </a:solidFill>
                <a:latin typeface="Calibri" pitchFamily="34" charset="0"/>
                <a:ea typeface="Calibri" pitchFamily="34" charset="-122"/>
                <a:cs typeface="Calibri" pitchFamily="34" charset="-120"/>
              </a:rPr>
              <a:t>PyMuPDF returns text blocks mapped to layout boxes; two-column layouts, tables, and headers/footers produce garbled concatenation</a:t>
            </a:r>
            <a:endParaRPr lang="en-US" sz="1600" dirty="0"/>
          </a:p>
          <a:p>
            <a:pPr marL="342900" indent="-342900" algn="l">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4. No max-length enforcement per segment</a:t>
            </a:r>
            <a:endParaRPr lang="en-US" sz="1600" dirty="0"/>
          </a:p>
          <a:p>
            <a:pPr marL="685800" lvl="1" indent="-342900" algn="l">
              <a:spcAft>
                <a:spcPts val="200"/>
              </a:spcAft>
              <a:buSzPct val="100000"/>
              <a:buChar char="•"/>
            </a:pPr>
            <a:r>
              <a:rPr lang="en-US" sz="1300" dirty="0">
                <a:solidFill>
                  <a:srgbClr val="000000"/>
                </a:solidFill>
                <a:latin typeface="Calibri" pitchFamily="34" charset="0"/>
                <a:ea typeface="Calibri" pitchFamily="34" charset="-122"/>
                <a:cs typeface="Calibri" pitchFamily="34" charset="-120"/>
              </a:rPr>
              <a:t>segments_to_text() truncates total character count but does not split oversized individual segments; one dense legal paragraph may exceed model max sequence length</a:t>
            </a:r>
            <a:endParaRPr lang="en-US" sz="1600" dirty="0"/>
          </a:p>
          <a:p>
            <a:pPr marL="342900" indent="-342900" algn="l">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5. No sentence segmentation integration</a:t>
            </a:r>
            <a:endParaRPr lang="en-US" sz="1600" dirty="0"/>
          </a:p>
          <a:p>
            <a:pPr marL="685800" lvl="1" indent="-342900" algn="l">
              <a:spcAft>
                <a:spcPts val="200"/>
              </a:spcAft>
              <a:buSzPct val="100000"/>
              <a:buChar char="•"/>
            </a:pPr>
            <a:r>
              <a:rPr lang="en-US" sz="1300" dirty="0">
                <a:solidFill>
                  <a:srgbClr val="000000"/>
                </a:solidFill>
                <a:latin typeface="Calibri" pitchFamily="34" charset="0"/>
                <a:ea typeface="Calibri" pitchFamily="34" charset="-122"/>
                <a:cs typeface="Calibri" pitchFamily="34" charset="-120"/>
              </a:rPr>
              <a:t>Parser produces paragraph-level segments; SpaCy or SaT sentence splitting must be applied as a second pass and this step is not implemented yet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rgbClr val="000000"/>
                </a:solidFill>
                <a:latin typeface="Calibri" pitchFamily="34" charset="0"/>
                <a:ea typeface="Calibri" pitchFamily="34" charset="-122"/>
                <a:cs typeface="Calibri" pitchFamily="34" charset="-120"/>
              </a:rPr>
              <a:t>B3: </a:t>
            </a:r>
            <a:r>
              <a:rPr lang="en-US" sz="3000" b="1" dirty="0" err="1">
                <a:solidFill>
                  <a:srgbClr val="000000"/>
                </a:solidFill>
                <a:latin typeface="Calibri" pitchFamily="34" charset="0"/>
                <a:ea typeface="Calibri" pitchFamily="34" charset="-122"/>
                <a:cs typeface="Calibri" pitchFamily="34" charset="-120"/>
              </a:rPr>
              <a:t>model.py</a:t>
            </a:r>
            <a:r>
              <a:rPr lang="en-US" sz="3000" b="1" dirty="0">
                <a:solidFill>
                  <a:srgbClr val="000000"/>
                </a:solidFill>
                <a:latin typeface="Calibri" pitchFamily="34" charset="0"/>
                <a:ea typeface="Calibri" pitchFamily="34" charset="-122"/>
                <a:cs typeface="Calibri" pitchFamily="34" charset="-120"/>
              </a:rPr>
              <a:t> - What It Does</a:t>
            </a:r>
            <a:endParaRPr lang="en-US" sz="3000" dirty="0"/>
          </a:p>
        </p:txBody>
      </p:sp>
      <p:sp>
        <p:nvSpPr>
          <p:cNvPr id="4" name="Text 1"/>
          <p:cNvSpPr/>
          <p:nvPr/>
        </p:nvSpPr>
        <p:spPr>
          <a:xfrm>
            <a:off x="457200" y="1005840"/>
            <a:ext cx="2286000" cy="365760"/>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ConceptLMConfig</a:t>
            </a:r>
            <a:endParaRPr lang="en-US" sz="1200" dirty="0"/>
          </a:p>
        </p:txBody>
      </p:sp>
      <p:sp>
        <p:nvSpPr>
          <p:cNvPr id="5" name="Text 2"/>
          <p:cNvSpPr/>
          <p:nvPr/>
        </p:nvSpPr>
        <p:spPr>
          <a:xfrm>
            <a:off x="2788920" y="1005840"/>
            <a:ext cx="5852160" cy="365760"/>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Dataclass: token/concept dims, layer/head counts, boundary settings, compression ratio, vocab size, sequence length</a:t>
            </a:r>
            <a:endParaRPr lang="en-US" sz="1200" dirty="0"/>
          </a:p>
        </p:txBody>
      </p:sp>
      <p:sp>
        <p:nvSpPr>
          <p:cNvPr id="6" name="Shape 3"/>
          <p:cNvSpPr/>
          <p:nvPr/>
        </p:nvSpPr>
        <p:spPr>
          <a:xfrm>
            <a:off x="457200" y="1362456"/>
            <a:ext cx="8229600" cy="0"/>
          </a:xfrm>
          <a:prstGeom prst="line">
            <a:avLst/>
          </a:prstGeom>
          <a:noFill/>
          <a:ln w="6350">
            <a:solidFill>
              <a:srgbClr val="EEEEEE"/>
            </a:solidFill>
            <a:prstDash val="solid"/>
          </a:ln>
        </p:spPr>
        <p:txBody>
          <a:bodyPr/>
          <a:lstStyle/>
          <a:p>
            <a:endParaRPr lang="en-US"/>
          </a:p>
        </p:txBody>
      </p:sp>
      <p:sp>
        <p:nvSpPr>
          <p:cNvPr id="7" name="Text 4"/>
          <p:cNvSpPr/>
          <p:nvPr/>
        </p:nvSpPr>
        <p:spPr>
          <a:xfrm>
            <a:off x="457200" y="1399032"/>
            <a:ext cx="2286000" cy="365760"/>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TokenEncoder</a:t>
            </a:r>
            <a:endParaRPr lang="en-US" sz="1200" dirty="0"/>
          </a:p>
        </p:txBody>
      </p:sp>
      <p:sp>
        <p:nvSpPr>
          <p:cNvPr id="8" name="Text 5"/>
          <p:cNvSpPr/>
          <p:nvPr/>
        </p:nvSpPr>
        <p:spPr>
          <a:xfrm>
            <a:off x="2788920" y="1399032"/>
            <a:ext cx="5852160" cy="365760"/>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Causal Transformer over token IDs; produces contextual H. Pre-norm architecture (LayerNorm before attention) for training stability</a:t>
            </a:r>
            <a:endParaRPr lang="en-US" sz="1200" dirty="0"/>
          </a:p>
        </p:txBody>
      </p:sp>
      <p:sp>
        <p:nvSpPr>
          <p:cNvPr id="9" name="Shape 6"/>
          <p:cNvSpPr/>
          <p:nvPr/>
        </p:nvSpPr>
        <p:spPr>
          <a:xfrm>
            <a:off x="457200" y="1755648"/>
            <a:ext cx="8229600" cy="0"/>
          </a:xfrm>
          <a:prstGeom prst="line">
            <a:avLst/>
          </a:prstGeom>
          <a:noFill/>
          <a:ln w="6350">
            <a:solidFill>
              <a:srgbClr val="EEEEEE"/>
            </a:solidFill>
            <a:prstDash val="solid"/>
          </a:ln>
        </p:spPr>
        <p:txBody>
          <a:bodyPr/>
          <a:lstStyle/>
          <a:p>
            <a:endParaRPr lang="en-US"/>
          </a:p>
        </p:txBody>
      </p:sp>
      <p:sp>
        <p:nvSpPr>
          <p:cNvPr id="10" name="Text 7"/>
          <p:cNvSpPr/>
          <p:nvPr/>
        </p:nvSpPr>
        <p:spPr>
          <a:xfrm>
            <a:off x="457200" y="1792224"/>
            <a:ext cx="2286000" cy="365760"/>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BoundaryDetector</a:t>
            </a:r>
            <a:endParaRPr lang="en-US" sz="1200" dirty="0"/>
          </a:p>
        </p:txBody>
      </p:sp>
      <p:sp>
        <p:nvSpPr>
          <p:cNvPr id="11" name="Text 8"/>
          <p:cNvSpPr/>
          <p:nvPr/>
        </p:nvSpPr>
        <p:spPr>
          <a:xfrm>
            <a:off x="2788920" y="1792224"/>
            <a:ext cx="5852160" cy="365760"/>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Projects H into query-key space; cosine dissimilarity between adjacent positions. Training: stochastic Bernoulli sampling. Inference: hard threshold at 0.5</a:t>
            </a:r>
            <a:endParaRPr lang="en-US" sz="1200" dirty="0"/>
          </a:p>
        </p:txBody>
      </p:sp>
      <p:sp>
        <p:nvSpPr>
          <p:cNvPr id="12" name="Shape 9"/>
          <p:cNvSpPr/>
          <p:nvPr/>
        </p:nvSpPr>
        <p:spPr>
          <a:xfrm>
            <a:off x="457200" y="2148840"/>
            <a:ext cx="8229600" cy="0"/>
          </a:xfrm>
          <a:prstGeom prst="line">
            <a:avLst/>
          </a:prstGeom>
          <a:noFill/>
          <a:ln w="6350">
            <a:solidFill>
              <a:srgbClr val="EEEEEE"/>
            </a:solidFill>
            <a:prstDash val="solid"/>
          </a:ln>
        </p:spPr>
        <p:txBody>
          <a:bodyPr/>
          <a:lstStyle/>
          <a:p>
            <a:endParaRPr lang="en-US"/>
          </a:p>
        </p:txBody>
      </p:sp>
      <p:sp>
        <p:nvSpPr>
          <p:cNvPr id="13" name="Text 10"/>
          <p:cNvSpPr/>
          <p:nvPr/>
        </p:nvSpPr>
        <p:spPr>
          <a:xfrm>
            <a:off x="457200" y="2185416"/>
            <a:ext cx="2286000" cy="365760"/>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GlobalLoadBalancer</a:t>
            </a:r>
            <a:endParaRPr lang="en-US" sz="1200" dirty="0"/>
          </a:p>
        </p:txBody>
      </p:sp>
      <p:sp>
        <p:nvSpPr>
          <p:cNvPr id="14" name="Text 11"/>
          <p:cNvSpPr/>
          <p:nvPr/>
        </p:nvSpPr>
        <p:spPr>
          <a:xfrm>
            <a:off x="2788920" y="2185416"/>
            <a:ext cx="5852160" cy="365760"/>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Auxiliary loss penalizing boundary rate drift from target 1/R. Prevents degenerate solutions (all-boundary or no-boundary)</a:t>
            </a:r>
            <a:endParaRPr lang="en-US" sz="1200" dirty="0"/>
          </a:p>
        </p:txBody>
      </p:sp>
      <p:sp>
        <p:nvSpPr>
          <p:cNvPr id="15" name="Shape 12"/>
          <p:cNvSpPr/>
          <p:nvPr/>
        </p:nvSpPr>
        <p:spPr>
          <a:xfrm>
            <a:off x="457200" y="2542032"/>
            <a:ext cx="8229600" cy="0"/>
          </a:xfrm>
          <a:prstGeom prst="line">
            <a:avLst/>
          </a:prstGeom>
          <a:noFill/>
          <a:ln w="6350">
            <a:solidFill>
              <a:srgbClr val="EEEEEE"/>
            </a:solidFill>
            <a:prstDash val="solid"/>
          </a:ln>
        </p:spPr>
        <p:txBody>
          <a:bodyPr/>
          <a:lstStyle/>
          <a:p>
            <a:endParaRPr lang="en-US"/>
          </a:p>
        </p:txBody>
      </p:sp>
      <p:sp>
        <p:nvSpPr>
          <p:cNvPr id="16" name="Text 13"/>
          <p:cNvSpPr/>
          <p:nvPr/>
        </p:nvSpPr>
        <p:spPr>
          <a:xfrm>
            <a:off x="457200" y="2578608"/>
            <a:ext cx="2286000" cy="365760"/>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ConceptPooler</a:t>
            </a:r>
            <a:endParaRPr lang="en-US" sz="1200" dirty="0"/>
          </a:p>
        </p:txBody>
      </p:sp>
      <p:sp>
        <p:nvSpPr>
          <p:cNvPr id="17" name="Text 14"/>
          <p:cNvSpPr/>
          <p:nvPr/>
        </p:nvSpPr>
        <p:spPr>
          <a:xfrm>
            <a:off x="2788920" y="2578608"/>
            <a:ext cx="5852160" cy="365760"/>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Given boundary map, splits H into segments. Mean-pools tokens per segment. Projects pooled vector to concept dimension via W_up</a:t>
            </a:r>
            <a:endParaRPr lang="en-US" sz="1200" dirty="0"/>
          </a:p>
        </p:txBody>
      </p:sp>
      <p:sp>
        <p:nvSpPr>
          <p:cNvPr id="18" name="Shape 15"/>
          <p:cNvSpPr/>
          <p:nvPr/>
        </p:nvSpPr>
        <p:spPr>
          <a:xfrm>
            <a:off x="457200" y="2935224"/>
            <a:ext cx="8229600" cy="0"/>
          </a:xfrm>
          <a:prstGeom prst="line">
            <a:avLst/>
          </a:prstGeom>
          <a:noFill/>
          <a:ln w="6350">
            <a:solidFill>
              <a:srgbClr val="EEEEEE"/>
            </a:solidFill>
            <a:prstDash val="solid"/>
          </a:ln>
        </p:spPr>
        <p:txBody>
          <a:bodyPr/>
          <a:lstStyle/>
          <a:p>
            <a:endParaRPr lang="en-US"/>
          </a:p>
        </p:txBody>
      </p:sp>
      <p:sp>
        <p:nvSpPr>
          <p:cNvPr id="19" name="Text 16"/>
          <p:cNvSpPr/>
          <p:nvPr/>
        </p:nvSpPr>
        <p:spPr>
          <a:xfrm>
            <a:off x="457200" y="2971800"/>
            <a:ext cx="2286000" cy="365760"/>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ConceptTransformer</a:t>
            </a:r>
            <a:endParaRPr lang="en-US" sz="1200" dirty="0"/>
          </a:p>
        </p:txBody>
      </p:sp>
      <p:sp>
        <p:nvSpPr>
          <p:cNvPr id="20" name="Text 17"/>
          <p:cNvSpPr/>
          <p:nvPr/>
        </p:nvSpPr>
        <p:spPr>
          <a:xfrm>
            <a:off x="2788920" y="2971800"/>
            <a:ext cx="5852160" cy="365760"/>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Causal Transformer on concept sequence C. Full self-attention across concepts. Reasoning backbone</a:t>
            </a:r>
            <a:endParaRPr lang="en-US" sz="1200" dirty="0"/>
          </a:p>
        </p:txBody>
      </p:sp>
      <p:sp>
        <p:nvSpPr>
          <p:cNvPr id="21" name="Shape 18"/>
          <p:cNvSpPr/>
          <p:nvPr/>
        </p:nvSpPr>
        <p:spPr>
          <a:xfrm>
            <a:off x="457200" y="3328416"/>
            <a:ext cx="8229600" cy="0"/>
          </a:xfrm>
          <a:prstGeom prst="line">
            <a:avLst/>
          </a:prstGeom>
          <a:noFill/>
          <a:ln w="6350">
            <a:solidFill>
              <a:srgbClr val="EEEEEE"/>
            </a:solidFill>
            <a:prstDash val="solid"/>
          </a:ln>
        </p:spPr>
        <p:txBody>
          <a:bodyPr/>
          <a:lstStyle/>
          <a:p>
            <a:endParaRPr lang="en-US"/>
          </a:p>
        </p:txBody>
      </p:sp>
      <p:sp>
        <p:nvSpPr>
          <p:cNvPr id="22" name="Text 19"/>
          <p:cNvSpPr/>
          <p:nvPr/>
        </p:nvSpPr>
        <p:spPr>
          <a:xfrm>
            <a:off x="457200" y="3364992"/>
            <a:ext cx="2286000" cy="365760"/>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ConceptSmoother</a:t>
            </a:r>
            <a:endParaRPr lang="en-US" sz="1200" dirty="0"/>
          </a:p>
        </p:txBody>
      </p:sp>
      <p:sp>
        <p:nvSpPr>
          <p:cNvPr id="23" name="Text 20"/>
          <p:cNvSpPr/>
          <p:nvPr/>
        </p:nvSpPr>
        <p:spPr>
          <a:xfrm>
            <a:off x="2788920" y="3364992"/>
            <a:ext cx="5852160" cy="365760"/>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Depthwise 1D convolution over concept sequence to smooth hard boundary artifacts before decoding</a:t>
            </a:r>
            <a:endParaRPr lang="en-US" sz="1200" dirty="0"/>
          </a:p>
        </p:txBody>
      </p:sp>
      <p:sp>
        <p:nvSpPr>
          <p:cNvPr id="24" name="Shape 21"/>
          <p:cNvSpPr/>
          <p:nvPr/>
        </p:nvSpPr>
        <p:spPr>
          <a:xfrm>
            <a:off x="457200" y="3721608"/>
            <a:ext cx="8229600" cy="0"/>
          </a:xfrm>
          <a:prstGeom prst="line">
            <a:avLst/>
          </a:prstGeom>
          <a:noFill/>
          <a:ln w="6350">
            <a:solidFill>
              <a:srgbClr val="EEEEEE"/>
            </a:solidFill>
            <a:prstDash val="solid"/>
          </a:ln>
        </p:spPr>
        <p:txBody>
          <a:bodyPr/>
          <a:lstStyle/>
          <a:p>
            <a:endParaRPr lang="en-US"/>
          </a:p>
        </p:txBody>
      </p:sp>
      <p:sp>
        <p:nvSpPr>
          <p:cNvPr id="25" name="Text 22"/>
          <p:cNvSpPr/>
          <p:nvPr/>
        </p:nvSpPr>
        <p:spPr>
          <a:xfrm>
            <a:off x="457200" y="3758184"/>
            <a:ext cx="2286000" cy="365760"/>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CrossAttentionDecoder</a:t>
            </a:r>
            <a:endParaRPr lang="en-US" sz="1200" dirty="0"/>
          </a:p>
        </p:txBody>
      </p:sp>
      <p:sp>
        <p:nvSpPr>
          <p:cNvPr id="26" name="Text 23"/>
          <p:cNvSpPr/>
          <p:nvPr/>
        </p:nvSpPr>
        <p:spPr>
          <a:xfrm>
            <a:off x="2788920" y="3758184"/>
            <a:ext cx="5852160" cy="365760"/>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Each token queries smoothed concept vectors. Token t attends only to concepts from its own segment and earlier (causal). Projects to vocabulary via linear head</a:t>
            </a:r>
            <a:endParaRPr lang="en-US" sz="1200" dirty="0"/>
          </a:p>
        </p:txBody>
      </p:sp>
      <p:sp>
        <p:nvSpPr>
          <p:cNvPr id="27" name="Shape 24"/>
          <p:cNvSpPr/>
          <p:nvPr/>
        </p:nvSpPr>
        <p:spPr>
          <a:xfrm>
            <a:off x="457200" y="4114800"/>
            <a:ext cx="8229600" cy="0"/>
          </a:xfrm>
          <a:prstGeom prst="line">
            <a:avLst/>
          </a:prstGeom>
          <a:noFill/>
          <a:ln w="6350">
            <a:solidFill>
              <a:srgbClr val="EEEEEE"/>
            </a:solidFill>
            <a:prstDash val="solid"/>
          </a:ln>
        </p:spPr>
        <p:txBody>
          <a:bodyPr/>
          <a:lstStyle/>
          <a:p>
            <a:endParaRPr lang="en-US"/>
          </a:p>
        </p:txBody>
      </p:sp>
      <p:sp>
        <p:nvSpPr>
          <p:cNvPr id="28" name="Text 25"/>
          <p:cNvSpPr/>
          <p:nvPr/>
        </p:nvSpPr>
        <p:spPr>
          <a:xfrm>
            <a:off x="457200" y="4151376"/>
            <a:ext cx="2286000" cy="365760"/>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ConceptLM</a:t>
            </a:r>
            <a:endParaRPr lang="en-US" sz="1200" dirty="0"/>
          </a:p>
        </p:txBody>
      </p:sp>
      <p:sp>
        <p:nvSpPr>
          <p:cNvPr id="29" name="Text 26"/>
          <p:cNvSpPr/>
          <p:nvPr/>
        </p:nvSpPr>
        <p:spPr>
          <a:xfrm>
            <a:off x="2788920" y="4151376"/>
            <a:ext cx="5852160" cy="365760"/>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Wires all components. Forward pass returns logits, total loss, auxiliary boundary loss</a:t>
            </a:r>
            <a:endParaRPr lang="en-US" sz="1200" dirty="0"/>
          </a:p>
        </p:txBody>
      </p:sp>
      <p:sp>
        <p:nvSpPr>
          <p:cNvPr id="30" name="Shape 27"/>
          <p:cNvSpPr/>
          <p:nvPr/>
        </p:nvSpPr>
        <p:spPr>
          <a:xfrm>
            <a:off x="2715768" y="1005840"/>
            <a:ext cx="0" cy="3502152"/>
          </a:xfrm>
          <a:prstGeom prst="line">
            <a:avLst/>
          </a:prstGeom>
          <a:noFill/>
          <a:ln w="9525">
            <a:solidFill>
              <a:srgbClr val="CCCCCC"/>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rgbClr val="000000"/>
                </a:solidFill>
                <a:latin typeface="Calibri" pitchFamily="34" charset="0"/>
                <a:ea typeface="Calibri" pitchFamily="34" charset="-122"/>
                <a:cs typeface="Calibri" pitchFamily="34" charset="-120"/>
              </a:rPr>
              <a:t>B4: </a:t>
            </a:r>
            <a:r>
              <a:rPr lang="en-US" sz="3000" b="1" dirty="0" err="1">
                <a:solidFill>
                  <a:srgbClr val="000000"/>
                </a:solidFill>
                <a:latin typeface="Calibri" pitchFamily="34" charset="0"/>
                <a:ea typeface="Calibri" pitchFamily="34" charset="-122"/>
                <a:cs typeface="Calibri" pitchFamily="34" charset="-120"/>
              </a:rPr>
              <a:t>model.py</a:t>
            </a:r>
            <a:r>
              <a:rPr lang="en-US" sz="3000" b="1" dirty="0">
                <a:solidFill>
                  <a:srgbClr val="000000"/>
                </a:solidFill>
                <a:latin typeface="Calibri" pitchFamily="34" charset="0"/>
                <a:ea typeface="Calibri" pitchFamily="34" charset="-122"/>
                <a:cs typeface="Calibri" pitchFamily="34" charset="-120"/>
              </a:rPr>
              <a:t> - Limitations</a:t>
            </a:r>
            <a:endParaRPr lang="en-US" sz="3000" dirty="0"/>
          </a:p>
        </p:txBody>
      </p:sp>
      <p:sp>
        <p:nvSpPr>
          <p:cNvPr id="4" name="Text 1"/>
          <p:cNvSpPr/>
          <p:nvPr/>
        </p:nvSpPr>
        <p:spPr>
          <a:xfrm>
            <a:off x="457200" y="1005840"/>
            <a:ext cx="8229600" cy="3840480"/>
          </a:xfrm>
          <a:prstGeom prst="rect">
            <a:avLst/>
          </a:prstGeom>
          <a:noFill/>
          <a:ln/>
        </p:spPr>
        <p:txBody>
          <a:bodyPr wrap="square" lIns="0" tIns="0" rIns="0" bIns="0" rtlCol="0" anchor="t"/>
          <a:lstStyle/>
          <a:p>
            <a:pPr marL="342900" indent="-342900" algn="l">
              <a:spcAft>
                <a:spcPts val="300"/>
              </a:spcAft>
              <a:buSzPct val="100000"/>
              <a:buChar char="•"/>
            </a:pPr>
            <a:r>
              <a:rPr lang="en-US" sz="1500" b="1" dirty="0">
                <a:solidFill>
                  <a:srgbClr val="000000"/>
                </a:solidFill>
                <a:latin typeface="Calibri" pitchFamily="34" charset="0"/>
                <a:ea typeface="Calibri" pitchFamily="34" charset="-122"/>
                <a:cs typeface="Calibri" pitchFamily="34" charset="-120"/>
              </a:rPr>
              <a:t>1. Mean pooling loses intra-segment information</a:t>
            </a:r>
            <a:endParaRPr lang="en-US" sz="1500" dirty="0"/>
          </a:p>
          <a:p>
            <a:pPr marL="685800" lvl="1" indent="-342900" algn="l">
              <a:spcAft>
                <a:spcPts val="100"/>
              </a:spcAft>
              <a:buSzPct val="100000"/>
              <a:buChar char="•"/>
            </a:pPr>
            <a:r>
              <a:rPr lang="en-US" sz="1200" dirty="0">
                <a:solidFill>
                  <a:srgbClr val="000000"/>
                </a:solidFill>
                <a:latin typeface="Calibri" pitchFamily="34" charset="0"/>
                <a:ea typeface="Calibri" pitchFamily="34" charset="-122"/>
                <a:cs typeface="Calibri" pitchFamily="34" charset="-120"/>
              </a:rPr>
              <a:t>Order-invariant and length-blind — averages stop words and content equally; similar sentences collapse to the same vector regardless of qualifiers</a:t>
            </a:r>
            <a:endParaRPr lang="en-US" sz="1500" dirty="0"/>
          </a:p>
          <a:p>
            <a:pPr marL="342900" indent="-342900" algn="l">
              <a:spcAft>
                <a:spcPts val="300"/>
              </a:spcAft>
              <a:buSzPct val="100000"/>
              <a:buChar char="•"/>
            </a:pPr>
            <a:r>
              <a:rPr lang="en-US" sz="1500" b="1" dirty="0">
                <a:solidFill>
                  <a:srgbClr val="000000"/>
                </a:solidFill>
                <a:latin typeface="Calibri" pitchFamily="34" charset="0"/>
                <a:ea typeface="Calibri" pitchFamily="34" charset="-122"/>
                <a:cs typeface="Calibri" pitchFamily="34" charset="-120"/>
              </a:rPr>
              <a:t>2. Boundary detector has never been trained; no supervision signal</a:t>
            </a:r>
            <a:endParaRPr lang="en-US" sz="1500" dirty="0"/>
          </a:p>
          <a:p>
            <a:pPr marL="685800" lvl="1" indent="-342900" algn="l">
              <a:spcAft>
                <a:spcPts val="100"/>
              </a:spcAft>
              <a:buSzPct val="100000"/>
              <a:buChar char="•"/>
            </a:pPr>
            <a:r>
              <a:rPr lang="en-US" sz="1200" dirty="0">
                <a:solidFill>
                  <a:srgbClr val="000000"/>
                </a:solidFill>
                <a:latin typeface="Calibri" pitchFamily="34" charset="0"/>
                <a:ea typeface="Calibri" pitchFamily="34" charset="-122"/>
                <a:cs typeface="Calibri" pitchFamily="34" charset="-120"/>
              </a:rPr>
              <a:t>Load Balancer controls rate, not placement — will not teach semantically meaningful boundaries. Needs warm-start on known sentence boundaries</a:t>
            </a:r>
            <a:endParaRPr lang="en-US" sz="1500" dirty="0"/>
          </a:p>
          <a:p>
            <a:pPr marL="342900" indent="-342900" algn="l">
              <a:spcAft>
                <a:spcPts val="300"/>
              </a:spcAft>
              <a:buSzPct val="100000"/>
              <a:buChar char="•"/>
            </a:pPr>
            <a:r>
              <a:rPr lang="en-US" sz="1500" b="1" dirty="0">
                <a:solidFill>
                  <a:srgbClr val="000000"/>
                </a:solidFill>
                <a:latin typeface="Calibri" pitchFamily="34" charset="0"/>
                <a:ea typeface="Calibri" pitchFamily="34" charset="-122"/>
                <a:cs typeface="Calibri" pitchFamily="34" charset="-120"/>
              </a:rPr>
              <a:t>3. Concept batching is per-item, not padded</a:t>
            </a:r>
            <a:endParaRPr lang="en-US" sz="1500" dirty="0"/>
          </a:p>
          <a:p>
            <a:pPr marL="685800" lvl="1" indent="-342900" algn="l">
              <a:spcAft>
                <a:spcPts val="100"/>
              </a:spcAft>
              <a:buSzPct val="100000"/>
              <a:buChar char="•"/>
            </a:pPr>
            <a:r>
              <a:rPr lang="en-US" sz="1200" dirty="0">
                <a:solidFill>
                  <a:srgbClr val="000000"/>
                </a:solidFill>
                <a:latin typeface="Calibri" pitchFamily="34" charset="0"/>
                <a:ea typeface="Calibri" pitchFamily="34" charset="-122"/>
                <a:cs typeface="Calibri" pitchFamily="34" charset="-120"/>
              </a:rPr>
              <a:t>ConceptPooler loops per batch item; variable concept counts block efficient GPU tensor ops. Needs padding to max concept count + masking</a:t>
            </a:r>
            <a:endParaRPr lang="en-US" sz="1500" dirty="0"/>
          </a:p>
          <a:p>
            <a:pPr marL="342900" indent="-342900" algn="l">
              <a:spcAft>
                <a:spcPts val="300"/>
              </a:spcAft>
              <a:buSzPct val="100000"/>
              <a:buChar char="•"/>
            </a:pPr>
            <a:r>
              <a:rPr lang="en-US" sz="1500" b="1" dirty="0">
                <a:solidFill>
                  <a:srgbClr val="000000"/>
                </a:solidFill>
                <a:latin typeface="Calibri" pitchFamily="34" charset="0"/>
                <a:ea typeface="Calibri" pitchFamily="34" charset="-122"/>
                <a:cs typeface="Calibri" pitchFamily="34" charset="-120"/>
              </a:rPr>
              <a:t>4. generate() reprocesses full sequence at every step</a:t>
            </a:r>
            <a:endParaRPr lang="en-US" sz="1500" dirty="0"/>
          </a:p>
          <a:p>
            <a:pPr marL="685800" lvl="1" indent="-342900" algn="l">
              <a:spcAft>
                <a:spcPts val="100"/>
              </a:spcAft>
              <a:buSzPct val="100000"/>
              <a:buChar char="•"/>
            </a:pPr>
            <a:r>
              <a:rPr lang="en-US" sz="1200" dirty="0">
                <a:solidFill>
                  <a:srgbClr val="000000"/>
                </a:solidFill>
                <a:latin typeface="Calibri" pitchFamily="34" charset="0"/>
                <a:ea typeface="Calibri" pitchFamily="34" charset="-122"/>
                <a:cs typeface="Calibri" pitchFamily="34" charset="-120"/>
              </a:rPr>
              <a:t>At length 1024, R=4: concept transformer runs over 256 concepts per output token. O(L) per token = quadratic generation cost. KV cache needed</a:t>
            </a:r>
            <a:endParaRPr lang="en-US" sz="1500" dirty="0"/>
          </a:p>
          <a:p>
            <a:pPr marL="342900" indent="-342900" algn="l">
              <a:spcAft>
                <a:spcPts val="300"/>
              </a:spcAft>
              <a:buSzPct val="100000"/>
              <a:buChar char="•"/>
            </a:pPr>
            <a:r>
              <a:rPr lang="en-US" sz="1500" b="1" dirty="0">
                <a:solidFill>
                  <a:srgbClr val="000000"/>
                </a:solidFill>
                <a:latin typeface="Calibri" pitchFamily="34" charset="0"/>
                <a:ea typeface="Calibri" pitchFamily="34" charset="-122"/>
                <a:cs typeface="Calibri" pitchFamily="34" charset="-120"/>
              </a:rPr>
              <a:t>5. No concept-level loss</a:t>
            </a:r>
            <a:endParaRPr lang="en-US" sz="1500" dirty="0"/>
          </a:p>
          <a:p>
            <a:pPr marL="685800" lvl="1" indent="-342900" algn="l">
              <a:spcAft>
                <a:spcPts val="100"/>
              </a:spcAft>
              <a:buSzPct val="100000"/>
              <a:buChar char="•"/>
            </a:pPr>
            <a:r>
              <a:rPr lang="en-US" sz="1200" dirty="0">
                <a:solidFill>
                  <a:srgbClr val="000000"/>
                </a:solidFill>
                <a:latin typeface="Calibri" pitchFamily="34" charset="0"/>
                <a:ea typeface="Calibri" pitchFamily="34" charset="-122"/>
                <a:cs typeface="Calibri" pitchFamily="34" charset="-120"/>
              </a:rPr>
              <a:t>Only NTP cross-entropy; model uses concept vectors as compression shortcut, not semantic planning. Needs concept prediction head with cosine loss</a:t>
            </a:r>
            <a:endParaRPr lang="en-US" sz="1500" dirty="0"/>
          </a:p>
          <a:p>
            <a:pPr marL="342900" indent="-342900" algn="l">
              <a:spcAft>
                <a:spcPts val="300"/>
              </a:spcAft>
              <a:buSzPct val="100000"/>
              <a:buChar char="•"/>
            </a:pPr>
            <a:r>
              <a:rPr lang="en-US" sz="1500" b="1" dirty="0">
                <a:solidFill>
                  <a:srgbClr val="000000"/>
                </a:solidFill>
                <a:latin typeface="Calibri" pitchFamily="34" charset="0"/>
                <a:ea typeface="Calibri" pitchFamily="34" charset="-122"/>
                <a:cs typeface="Calibri" pitchFamily="34" charset="-120"/>
              </a:rPr>
              <a:t>6. ConceptSmoother: fixed </a:t>
            </a:r>
            <a:r>
              <a:rPr lang="en-US" sz="1500" b="1" dirty="0" err="1">
                <a:solidFill>
                  <a:srgbClr val="000000"/>
                </a:solidFill>
                <a:latin typeface="Calibri" pitchFamily="34" charset="0"/>
                <a:ea typeface="Calibri" pitchFamily="34" charset="-122"/>
                <a:cs typeface="Calibri" pitchFamily="34" charset="-120"/>
              </a:rPr>
              <a:t>depthwise</a:t>
            </a:r>
            <a:r>
              <a:rPr lang="en-US" sz="1500" b="1" dirty="0">
                <a:solidFill>
                  <a:srgbClr val="000000"/>
                </a:solidFill>
                <a:latin typeface="Calibri" pitchFamily="34" charset="0"/>
                <a:ea typeface="Calibri" pitchFamily="34" charset="-122"/>
                <a:cs typeface="Calibri" pitchFamily="34" charset="-120"/>
              </a:rPr>
              <a:t> convolution; uniform kernel cannot differentiate smoothing at topic shifts vs. tight logical progressions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rgbClr val="000000"/>
                </a:solidFill>
                <a:latin typeface="Calibri" pitchFamily="34" charset="0"/>
                <a:ea typeface="Calibri" pitchFamily="34" charset="-122"/>
                <a:cs typeface="Calibri" pitchFamily="34" charset="-120"/>
              </a:rPr>
              <a:t>B5: </a:t>
            </a:r>
            <a:r>
              <a:rPr lang="en-US" sz="3000" b="1" dirty="0" err="1">
                <a:solidFill>
                  <a:srgbClr val="000000"/>
                </a:solidFill>
                <a:latin typeface="Calibri" pitchFamily="34" charset="0"/>
                <a:ea typeface="Calibri" pitchFamily="34" charset="-122"/>
                <a:cs typeface="Calibri" pitchFamily="34" charset="-120"/>
              </a:rPr>
              <a:t>train.py</a:t>
            </a:r>
            <a:r>
              <a:rPr lang="en-US" sz="3000" b="1" dirty="0">
                <a:solidFill>
                  <a:srgbClr val="000000"/>
                </a:solidFill>
                <a:latin typeface="Calibri" pitchFamily="34" charset="0"/>
                <a:ea typeface="Calibri" pitchFamily="34" charset="-122"/>
                <a:cs typeface="Calibri" pitchFamily="34" charset="-120"/>
              </a:rPr>
              <a:t> - What It Does</a:t>
            </a:r>
            <a:endParaRPr lang="en-US" sz="3000" dirty="0"/>
          </a:p>
        </p:txBody>
      </p:sp>
      <p:sp>
        <p:nvSpPr>
          <p:cNvPr id="4" name="Text 1"/>
          <p:cNvSpPr/>
          <p:nvPr/>
        </p:nvSpPr>
        <p:spPr>
          <a:xfrm>
            <a:off x="457200" y="1005840"/>
            <a:ext cx="2651760" cy="713232"/>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TrainConfig</a:t>
            </a:r>
            <a:endParaRPr lang="en-US" sz="1200" dirty="0"/>
          </a:p>
        </p:txBody>
      </p:sp>
      <p:sp>
        <p:nvSpPr>
          <p:cNvPr id="5" name="Text 2"/>
          <p:cNvSpPr/>
          <p:nvPr/>
        </p:nvSpPr>
        <p:spPr>
          <a:xfrm>
            <a:off x="3154680" y="1005840"/>
            <a:ext cx="5486400" cy="713232"/>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Three separate LRs (token-level, concept-level, boundary), batch size, grad accumulation, warmup steps, cosine decay schedule, aux loss weight, checkpoint directory</a:t>
            </a:r>
            <a:endParaRPr lang="en-US" sz="1200" dirty="0"/>
          </a:p>
        </p:txBody>
      </p:sp>
      <p:sp>
        <p:nvSpPr>
          <p:cNvPr id="6" name="Shape 3"/>
          <p:cNvSpPr/>
          <p:nvPr/>
        </p:nvSpPr>
        <p:spPr>
          <a:xfrm>
            <a:off x="457200" y="1709928"/>
            <a:ext cx="8229600" cy="0"/>
          </a:xfrm>
          <a:prstGeom prst="line">
            <a:avLst/>
          </a:prstGeom>
          <a:noFill/>
          <a:ln w="6350">
            <a:solidFill>
              <a:srgbClr val="EEEEEE"/>
            </a:solidFill>
            <a:prstDash val="solid"/>
          </a:ln>
        </p:spPr>
        <p:txBody>
          <a:bodyPr/>
          <a:lstStyle/>
          <a:p>
            <a:endParaRPr lang="en-US"/>
          </a:p>
        </p:txBody>
      </p:sp>
      <p:sp>
        <p:nvSpPr>
          <p:cNvPr id="7" name="Text 4"/>
          <p:cNvSpPr/>
          <p:nvPr/>
        </p:nvSpPr>
        <p:spPr>
          <a:xfrm>
            <a:off x="457200" y="1755648"/>
            <a:ext cx="2651760" cy="713232"/>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build_optimizer_decoupled_mup()</a:t>
            </a:r>
            <a:endParaRPr lang="en-US" sz="1200" dirty="0"/>
          </a:p>
        </p:txBody>
      </p:sp>
      <p:sp>
        <p:nvSpPr>
          <p:cNvPr id="8" name="Text 5"/>
          <p:cNvSpPr/>
          <p:nvPr/>
        </p:nvSpPr>
        <p:spPr>
          <a:xfrm>
            <a:off x="3154680" y="1755648"/>
            <a:ext cx="5486400" cy="713232"/>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AdamW with three param groups: token_level (lr=3e-4), concept_level (lr=1e-4), boundary (lr=3e-4). Inversely width-scaled LRs stabilize training across heterogeneous component widths — from DLCM paper</a:t>
            </a:r>
            <a:endParaRPr lang="en-US" sz="1200" dirty="0"/>
          </a:p>
        </p:txBody>
      </p:sp>
      <p:sp>
        <p:nvSpPr>
          <p:cNvPr id="9" name="Shape 6"/>
          <p:cNvSpPr/>
          <p:nvPr/>
        </p:nvSpPr>
        <p:spPr>
          <a:xfrm>
            <a:off x="457200" y="2459736"/>
            <a:ext cx="8229600" cy="0"/>
          </a:xfrm>
          <a:prstGeom prst="line">
            <a:avLst/>
          </a:prstGeom>
          <a:noFill/>
          <a:ln w="6350">
            <a:solidFill>
              <a:srgbClr val="EEEEEE"/>
            </a:solidFill>
            <a:prstDash val="solid"/>
          </a:ln>
        </p:spPr>
        <p:txBody>
          <a:bodyPr/>
          <a:lstStyle/>
          <a:p>
            <a:endParaRPr lang="en-US"/>
          </a:p>
        </p:txBody>
      </p:sp>
      <p:sp>
        <p:nvSpPr>
          <p:cNvPr id="10" name="Text 7"/>
          <p:cNvSpPr/>
          <p:nvPr/>
        </p:nvSpPr>
        <p:spPr>
          <a:xfrm>
            <a:off x="457200" y="2505456"/>
            <a:ext cx="2651760" cy="713232"/>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get_lr_scheduler()</a:t>
            </a:r>
            <a:endParaRPr lang="en-US" sz="1200" dirty="0"/>
          </a:p>
        </p:txBody>
      </p:sp>
      <p:sp>
        <p:nvSpPr>
          <p:cNvPr id="11" name="Text 8"/>
          <p:cNvSpPr/>
          <p:nvPr/>
        </p:nvSpPr>
        <p:spPr>
          <a:xfrm>
            <a:off x="3154680" y="2505456"/>
            <a:ext cx="5486400" cy="713232"/>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Linear warmup over first 1,000 steps; cosine decay to zero over remaining training steps</a:t>
            </a:r>
            <a:endParaRPr lang="en-US" sz="1200" dirty="0"/>
          </a:p>
        </p:txBody>
      </p:sp>
      <p:sp>
        <p:nvSpPr>
          <p:cNvPr id="12" name="Shape 9"/>
          <p:cNvSpPr/>
          <p:nvPr/>
        </p:nvSpPr>
        <p:spPr>
          <a:xfrm>
            <a:off x="457200" y="3209544"/>
            <a:ext cx="8229600" cy="0"/>
          </a:xfrm>
          <a:prstGeom prst="line">
            <a:avLst/>
          </a:prstGeom>
          <a:noFill/>
          <a:ln w="6350">
            <a:solidFill>
              <a:srgbClr val="EEEEEE"/>
            </a:solidFill>
            <a:prstDash val="solid"/>
          </a:ln>
        </p:spPr>
        <p:txBody>
          <a:bodyPr/>
          <a:lstStyle/>
          <a:p>
            <a:endParaRPr lang="en-US"/>
          </a:p>
        </p:txBody>
      </p:sp>
      <p:sp>
        <p:nvSpPr>
          <p:cNvPr id="13" name="Text 10"/>
          <p:cNvSpPr/>
          <p:nvPr/>
        </p:nvSpPr>
        <p:spPr>
          <a:xfrm>
            <a:off x="457200" y="3255264"/>
            <a:ext cx="2651760" cy="713232"/>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train()</a:t>
            </a:r>
            <a:endParaRPr lang="en-US" sz="1200" dirty="0"/>
          </a:p>
        </p:txBody>
      </p:sp>
      <p:sp>
        <p:nvSpPr>
          <p:cNvPr id="14" name="Text 11"/>
          <p:cNvSpPr/>
          <p:nvPr/>
        </p:nvSpPr>
        <p:spPr>
          <a:xfrm>
            <a:off x="3154680" y="3255264"/>
            <a:ext cx="5486400" cy="713232"/>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Standard loop: forward, loss/grad_accum, gradient accumulation, grad clip at 1.0, optimizer step, log every 100 steps, checkpoint every 2,000 steps</a:t>
            </a:r>
            <a:endParaRPr lang="en-US" sz="1200" dirty="0"/>
          </a:p>
        </p:txBody>
      </p:sp>
      <p:sp>
        <p:nvSpPr>
          <p:cNvPr id="15" name="Shape 12"/>
          <p:cNvSpPr/>
          <p:nvPr/>
        </p:nvSpPr>
        <p:spPr>
          <a:xfrm>
            <a:off x="457200" y="3959352"/>
            <a:ext cx="8229600" cy="0"/>
          </a:xfrm>
          <a:prstGeom prst="line">
            <a:avLst/>
          </a:prstGeom>
          <a:noFill/>
          <a:ln w="6350">
            <a:solidFill>
              <a:srgbClr val="EEEEEE"/>
            </a:solidFill>
            <a:prstDash val="solid"/>
          </a:ln>
        </p:spPr>
        <p:txBody>
          <a:bodyPr/>
          <a:lstStyle/>
          <a:p>
            <a:endParaRPr lang="en-US"/>
          </a:p>
        </p:txBody>
      </p:sp>
      <p:sp>
        <p:nvSpPr>
          <p:cNvPr id="16" name="Text 13"/>
          <p:cNvSpPr/>
          <p:nvPr/>
        </p:nvSpPr>
        <p:spPr>
          <a:xfrm>
            <a:off x="457200" y="4005072"/>
            <a:ext cx="2651760" cy="713232"/>
          </a:xfrm>
          <a:prstGeom prst="rect">
            <a:avLst/>
          </a:prstGeom>
          <a:noFill/>
          <a:ln/>
        </p:spPr>
        <p:txBody>
          <a:bodyPr wrap="square" lIns="0" tIns="0" rIns="0" bIns="0" rtlCol="0" anchor="t"/>
          <a:lstStyle/>
          <a:p>
            <a:pPr marL="0" indent="0" algn="l">
              <a:buNone/>
            </a:pPr>
            <a:r>
              <a:rPr lang="en-US" sz="1200" b="1" dirty="0">
                <a:solidFill>
                  <a:srgbClr val="000000"/>
                </a:solidFill>
                <a:latin typeface="Calibri" pitchFamily="34" charset="0"/>
                <a:ea typeface="Calibri" pitchFamily="34" charset="-122"/>
                <a:cs typeface="Calibri" pitchFamily="34" charset="-120"/>
              </a:rPr>
              <a:t>TextDataset / collate_fn</a:t>
            </a:r>
            <a:endParaRPr lang="en-US" sz="1200" dirty="0"/>
          </a:p>
        </p:txBody>
      </p:sp>
      <p:sp>
        <p:nvSpPr>
          <p:cNvPr id="17" name="Text 14"/>
          <p:cNvSpPr/>
          <p:nvPr/>
        </p:nvSpPr>
        <p:spPr>
          <a:xfrm>
            <a:off x="3154680" y="4005072"/>
            <a:ext cx="5486400" cy="713232"/>
          </a:xfrm>
          <a:prstGeom prst="rect">
            <a:avLst/>
          </a:prstGeom>
          <a:noFill/>
          <a:ln/>
        </p:spPr>
        <p:txBody>
          <a:bodyPr wrap="square" lIns="0" tIns="0" rIns="0" bIns="0" rtlCol="0" anchor="t"/>
          <a:lstStyle/>
          <a:p>
            <a:pPr marL="0" indent="0" algn="l">
              <a:buNone/>
            </a:pPr>
            <a:r>
              <a:rPr lang="en-US" sz="1200" dirty="0">
                <a:solidFill>
                  <a:srgbClr val="000000"/>
                </a:solidFill>
                <a:latin typeface="Calibri" pitchFamily="34" charset="0"/>
                <a:ea typeface="Calibri" pitchFamily="34" charset="-122"/>
                <a:cs typeface="Calibri" pitchFamily="34" charset="-120"/>
              </a:rPr>
              <a:t>Minimal dataset wrapper over pre-tokenized integer sequences; padding collation. Expects List[List[int]] as input</a:t>
            </a:r>
            <a:endParaRPr lang="en-US" sz="1200" dirty="0"/>
          </a:p>
        </p:txBody>
      </p:sp>
      <p:sp>
        <p:nvSpPr>
          <p:cNvPr id="18" name="Shape 15"/>
          <p:cNvSpPr/>
          <p:nvPr/>
        </p:nvSpPr>
        <p:spPr>
          <a:xfrm>
            <a:off x="3081528" y="1005840"/>
            <a:ext cx="0" cy="3703320"/>
          </a:xfrm>
          <a:prstGeom prst="line">
            <a:avLst/>
          </a:prstGeom>
          <a:noFill/>
          <a:ln w="9525">
            <a:solidFill>
              <a:srgbClr val="CCCCCC"/>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rgbClr val="000000"/>
                </a:solidFill>
                <a:latin typeface="Calibri" pitchFamily="34" charset="0"/>
                <a:ea typeface="Calibri" pitchFamily="34" charset="-122"/>
                <a:cs typeface="Calibri" pitchFamily="34" charset="-120"/>
              </a:rPr>
              <a:t>B6: </a:t>
            </a:r>
            <a:r>
              <a:rPr lang="en-US" sz="3000" b="1" dirty="0" err="1">
                <a:solidFill>
                  <a:srgbClr val="000000"/>
                </a:solidFill>
                <a:latin typeface="Calibri" pitchFamily="34" charset="0"/>
                <a:ea typeface="Calibri" pitchFamily="34" charset="-122"/>
                <a:cs typeface="Calibri" pitchFamily="34" charset="-120"/>
              </a:rPr>
              <a:t>train.py</a:t>
            </a:r>
            <a:r>
              <a:rPr lang="en-US" sz="3000" b="1" dirty="0">
                <a:solidFill>
                  <a:srgbClr val="000000"/>
                </a:solidFill>
                <a:latin typeface="Calibri" pitchFamily="34" charset="0"/>
                <a:ea typeface="Calibri" pitchFamily="34" charset="-122"/>
                <a:cs typeface="Calibri" pitchFamily="34" charset="-120"/>
              </a:rPr>
              <a:t> - Limitations</a:t>
            </a:r>
            <a:endParaRPr lang="en-US" sz="3000" dirty="0"/>
          </a:p>
        </p:txBody>
      </p:sp>
      <p:sp>
        <p:nvSpPr>
          <p:cNvPr id="4" name="Text 1"/>
          <p:cNvSpPr/>
          <p:nvPr/>
        </p:nvSpPr>
        <p:spPr>
          <a:xfrm>
            <a:off x="457200" y="1005840"/>
            <a:ext cx="8229600" cy="3840480"/>
          </a:xfrm>
          <a:prstGeom prst="rect">
            <a:avLst/>
          </a:prstGeom>
          <a:noFill/>
          <a:ln/>
        </p:spPr>
        <p:txBody>
          <a:bodyPr wrap="square" lIns="0" tIns="0" rIns="0" bIns="0" rtlCol="0" anchor="t"/>
          <a:lstStyle/>
          <a:p>
            <a:pPr marL="342900" indent="-342900" algn="l">
              <a:spcAft>
                <a:spcPts val="300"/>
              </a:spcAft>
              <a:buSzPct val="100000"/>
              <a:buChar char="•"/>
            </a:pPr>
            <a:r>
              <a:rPr lang="en-US" sz="1500" b="1" dirty="0">
                <a:solidFill>
                  <a:srgbClr val="000000"/>
                </a:solidFill>
                <a:latin typeface="Calibri" pitchFamily="34" charset="0"/>
                <a:ea typeface="Calibri" pitchFamily="34" charset="-122"/>
                <a:cs typeface="Calibri" pitchFamily="34" charset="-120"/>
              </a:rPr>
              <a:t>1</a:t>
            </a:r>
            <a:r>
              <a:rPr lang="en-US" sz="1500" b="1" dirty="0">
                <a:solidFill>
                  <a:srgbClr val="000000"/>
                </a:solidFill>
                <a:highlight>
                  <a:srgbClr val="FFFF00"/>
                </a:highlight>
                <a:latin typeface="Calibri" pitchFamily="34" charset="0"/>
                <a:ea typeface="Calibri" pitchFamily="34" charset="-122"/>
                <a:cs typeface="Calibri" pitchFamily="34" charset="-120"/>
              </a:rPr>
              <a:t>. No data pipeline exists</a:t>
            </a:r>
            <a:endParaRPr lang="en-US" sz="1500" dirty="0">
              <a:highlight>
                <a:srgbClr val="FFFF00"/>
              </a:highlight>
            </a:endParaRPr>
          </a:p>
          <a:p>
            <a:pPr marL="685800" lvl="1" indent="-342900" algn="l">
              <a:spcAft>
                <a:spcPts val="100"/>
              </a:spcAft>
              <a:buSzPct val="100000"/>
              <a:buChar char="•"/>
            </a:pPr>
            <a:r>
              <a:rPr lang="en-US" sz="1200" dirty="0">
                <a:solidFill>
                  <a:srgbClr val="000000"/>
                </a:solidFill>
                <a:highlight>
                  <a:srgbClr val="FFFF00"/>
                </a:highlight>
                <a:latin typeface="Calibri" pitchFamily="34" charset="0"/>
                <a:ea typeface="Calibri" pitchFamily="34" charset="-122"/>
                <a:cs typeface="Calibri" pitchFamily="34" charset="-120"/>
              </a:rPr>
              <a:t>TextDataset expects List[List[int]]: nothing scrapes CourtListener, runs SpaCy, encodes with SONAR, or tokenizes. Largest unbuilt piece in the project</a:t>
            </a:r>
            <a:endParaRPr lang="en-US" sz="1500" dirty="0">
              <a:highlight>
                <a:srgbClr val="FFFF00"/>
              </a:highlight>
            </a:endParaRPr>
          </a:p>
          <a:p>
            <a:pPr marL="342900" indent="-342900" algn="l">
              <a:spcAft>
                <a:spcPts val="300"/>
              </a:spcAft>
              <a:buSzPct val="100000"/>
              <a:buChar char="•"/>
            </a:pPr>
            <a:r>
              <a:rPr lang="en-US" sz="1500" b="1" dirty="0">
                <a:solidFill>
                  <a:srgbClr val="000000"/>
                </a:solidFill>
                <a:latin typeface="Calibri" pitchFamily="34" charset="0"/>
                <a:ea typeface="Calibri" pitchFamily="34" charset="-122"/>
                <a:cs typeface="Calibri" pitchFamily="34" charset="-120"/>
              </a:rPr>
              <a:t>2. Loss trains next-token prediction, not next-concept prediction</a:t>
            </a:r>
            <a:endParaRPr lang="en-US" sz="1500" dirty="0"/>
          </a:p>
          <a:p>
            <a:pPr marL="685800" lvl="1" indent="-342900" algn="l">
              <a:spcAft>
                <a:spcPts val="100"/>
              </a:spcAft>
              <a:buSzPct val="100000"/>
              <a:buChar char="•"/>
            </a:pPr>
            <a:r>
              <a:rPr lang="en-US" sz="1200" dirty="0">
                <a:solidFill>
                  <a:srgbClr val="000000"/>
                </a:solidFill>
                <a:latin typeface="Calibri" pitchFamily="34" charset="0"/>
                <a:ea typeface="Calibri" pitchFamily="34" charset="-122"/>
                <a:cs typeface="Calibri" pitchFamily="34" charset="-120"/>
              </a:rPr>
              <a:t>A model optimized purely on NTP learns to use concept vectors as a compression shortcut for token statistics, not as a semantic planning mechanism</a:t>
            </a:r>
            <a:endParaRPr lang="en-US" sz="1500" dirty="0"/>
          </a:p>
          <a:p>
            <a:pPr marL="342900" indent="-342900" algn="l">
              <a:spcAft>
                <a:spcPts val="300"/>
              </a:spcAft>
              <a:buSzPct val="100000"/>
              <a:buChar char="•"/>
            </a:pPr>
            <a:r>
              <a:rPr lang="en-US" sz="1500" b="1" dirty="0">
                <a:solidFill>
                  <a:srgbClr val="000000"/>
                </a:solidFill>
                <a:latin typeface="Calibri" pitchFamily="34" charset="0"/>
                <a:ea typeface="Calibri" pitchFamily="34" charset="-122"/>
                <a:cs typeface="Calibri" pitchFamily="34" charset="-120"/>
              </a:rPr>
              <a:t>3. No evaluation loop</a:t>
            </a:r>
            <a:endParaRPr lang="en-US" sz="1500" dirty="0"/>
          </a:p>
          <a:p>
            <a:pPr marL="685800" lvl="1" indent="-342900" algn="l">
              <a:spcAft>
                <a:spcPts val="100"/>
              </a:spcAft>
              <a:buSzPct val="100000"/>
              <a:buChar char="•"/>
            </a:pPr>
            <a:r>
              <a:rPr lang="en-US" sz="1200" dirty="0">
                <a:solidFill>
                  <a:srgbClr val="000000"/>
                </a:solidFill>
                <a:latin typeface="Calibri" pitchFamily="34" charset="0"/>
                <a:ea typeface="Calibri" pitchFamily="34" charset="-122"/>
                <a:cs typeface="Calibri" pitchFamily="34" charset="-120"/>
              </a:rPr>
              <a:t>train() logs loss and saves checkpoints but has no eval split, no held-out loss, and no generation-based qualitative eval; no code to run model on a test opinion</a:t>
            </a:r>
            <a:endParaRPr lang="en-US" sz="1500" dirty="0"/>
          </a:p>
          <a:p>
            <a:pPr marL="342900" indent="-342900" algn="l">
              <a:spcAft>
                <a:spcPts val="300"/>
              </a:spcAft>
              <a:buSzPct val="100000"/>
              <a:buChar char="•"/>
            </a:pPr>
            <a:r>
              <a:rPr lang="en-US" sz="1500" b="1" dirty="0">
                <a:solidFill>
                  <a:srgbClr val="000000"/>
                </a:solidFill>
                <a:latin typeface="Calibri" pitchFamily="34" charset="0"/>
                <a:ea typeface="Calibri" pitchFamily="34" charset="-122"/>
                <a:cs typeface="Calibri" pitchFamily="34" charset="-120"/>
              </a:rPr>
              <a:t>4. Gradient accumulation with variable concept count</a:t>
            </a:r>
            <a:endParaRPr lang="en-US" sz="1500" dirty="0"/>
          </a:p>
          <a:p>
            <a:pPr marL="685800" lvl="1" indent="-342900" algn="l">
              <a:spcAft>
                <a:spcPts val="100"/>
              </a:spcAft>
              <a:buSzPct val="100000"/>
              <a:buChar char="•"/>
            </a:pPr>
            <a:r>
              <a:rPr lang="en-US" sz="1200" dirty="0">
                <a:solidFill>
                  <a:srgbClr val="000000"/>
                </a:solidFill>
                <a:latin typeface="Calibri" pitchFamily="34" charset="0"/>
                <a:ea typeface="Calibri" pitchFamily="34" charset="-122"/>
                <a:cs typeface="Calibri" pitchFamily="34" charset="-120"/>
              </a:rPr>
              <a:t>Different sequences produce different concept counts per batch item; compute per gradient step is non-uniform; GPU memory usage is unpredictable</a:t>
            </a:r>
            <a:endParaRPr lang="en-US" sz="1500" dirty="0"/>
          </a:p>
          <a:p>
            <a:pPr marL="342900" indent="-342900" algn="l">
              <a:spcAft>
                <a:spcPts val="300"/>
              </a:spcAft>
              <a:buSzPct val="100000"/>
              <a:buChar char="•"/>
            </a:pPr>
            <a:r>
              <a:rPr lang="en-US" sz="1500" b="1" dirty="0">
                <a:solidFill>
                  <a:srgbClr val="000000"/>
                </a:solidFill>
                <a:latin typeface="Calibri" pitchFamily="34" charset="0"/>
                <a:ea typeface="Calibri" pitchFamily="34" charset="-122"/>
                <a:cs typeface="Calibri" pitchFamily="34" charset="-120"/>
              </a:rPr>
              <a:t>5. No mixed precision</a:t>
            </a:r>
            <a:endParaRPr lang="en-US" sz="1500" dirty="0"/>
          </a:p>
          <a:p>
            <a:pPr marL="685800" lvl="1" indent="-342900" algn="l">
              <a:spcAft>
                <a:spcPts val="100"/>
              </a:spcAft>
              <a:buSzPct val="100000"/>
              <a:buChar char="•"/>
            </a:pPr>
            <a:r>
              <a:rPr lang="en-US" sz="1200" dirty="0">
                <a:solidFill>
                  <a:srgbClr val="000000"/>
                </a:solidFill>
                <a:latin typeface="Calibri" pitchFamily="34" charset="0"/>
                <a:ea typeface="Calibri" pitchFamily="34" charset="-122"/>
                <a:cs typeface="Calibri" pitchFamily="34" charset="-120"/>
              </a:rPr>
              <a:t>Full fp32 is 2x slower and 2x memory vs. bf16 at 500M+ parameters; one-line torch.autocast addition would fix this</a:t>
            </a:r>
            <a:endParaRPr lang="en-US" sz="1500" dirty="0"/>
          </a:p>
          <a:p>
            <a:pPr marL="342900" indent="-342900" algn="l">
              <a:spcAft>
                <a:spcPts val="300"/>
              </a:spcAft>
              <a:buSzPct val="100000"/>
              <a:buChar char="•"/>
            </a:pPr>
            <a:r>
              <a:rPr lang="en-US" sz="1500" b="1" dirty="0">
                <a:solidFill>
                  <a:srgbClr val="000000"/>
                </a:solidFill>
                <a:latin typeface="Calibri" pitchFamily="34" charset="0"/>
                <a:ea typeface="Calibri" pitchFamily="34" charset="-122"/>
                <a:cs typeface="Calibri" pitchFamily="34" charset="-120"/>
              </a:rPr>
              <a:t>6. Decoupled muP LRs are hand-set, not tuned so absolute values (3e-4, 1e-4) are defaults; proxy model sweep needed before any serious run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rgbClr val="000000"/>
                </a:solidFill>
                <a:latin typeface="Calibri" pitchFamily="34" charset="0"/>
                <a:ea typeface="Calibri" pitchFamily="34" charset="-122"/>
                <a:cs typeface="Calibri" pitchFamily="34" charset="-120"/>
              </a:rPr>
              <a:t>B7: What Exists vs. What Is Needed</a:t>
            </a:r>
            <a:endParaRPr lang="en-US" sz="3000" dirty="0"/>
          </a:p>
        </p:txBody>
      </p:sp>
      <p:sp>
        <p:nvSpPr>
          <p:cNvPr id="4" name="Text 1"/>
          <p:cNvSpPr/>
          <p:nvPr/>
        </p:nvSpPr>
        <p:spPr>
          <a:xfrm>
            <a:off x="530352" y="1042416"/>
            <a:ext cx="1901952" cy="274320"/>
          </a:xfrm>
          <a:prstGeom prst="rect">
            <a:avLst/>
          </a:prstGeom>
          <a:noFill/>
          <a:ln/>
        </p:spPr>
        <p:txBody>
          <a:bodyPr wrap="square" lIns="0" tIns="0" rIns="0" bIns="0" rtlCol="0" anchor="ctr"/>
          <a:lstStyle/>
          <a:p>
            <a:pPr marL="0" indent="0" algn="l">
              <a:buNone/>
            </a:pPr>
            <a:r>
              <a:rPr lang="en-US" sz="1300" b="1" dirty="0">
                <a:solidFill>
                  <a:srgbClr val="000000"/>
                </a:solidFill>
                <a:latin typeface="Calibri" pitchFamily="34" charset="0"/>
                <a:ea typeface="Calibri" pitchFamily="34" charset="-122"/>
                <a:cs typeface="Calibri" pitchFamily="34" charset="-120"/>
              </a:rPr>
              <a:t>Component</a:t>
            </a:r>
            <a:endParaRPr lang="en-US" sz="1300" dirty="0"/>
          </a:p>
        </p:txBody>
      </p:sp>
      <p:sp>
        <p:nvSpPr>
          <p:cNvPr id="5" name="Text 2"/>
          <p:cNvSpPr/>
          <p:nvPr/>
        </p:nvSpPr>
        <p:spPr>
          <a:xfrm>
            <a:off x="2542032" y="1042416"/>
            <a:ext cx="1901952" cy="274320"/>
          </a:xfrm>
          <a:prstGeom prst="rect">
            <a:avLst/>
          </a:prstGeom>
          <a:noFill/>
          <a:ln/>
        </p:spPr>
        <p:txBody>
          <a:bodyPr wrap="square" lIns="0" tIns="0" rIns="0" bIns="0" rtlCol="0" anchor="ctr"/>
          <a:lstStyle/>
          <a:p>
            <a:pPr marL="0" indent="0" algn="l">
              <a:buNone/>
            </a:pPr>
            <a:r>
              <a:rPr lang="en-US" sz="1300" b="1" dirty="0">
                <a:solidFill>
                  <a:srgbClr val="000000"/>
                </a:solidFill>
                <a:latin typeface="Calibri" pitchFamily="34" charset="0"/>
                <a:ea typeface="Calibri" pitchFamily="34" charset="-122"/>
                <a:cs typeface="Calibri" pitchFamily="34" charset="-120"/>
              </a:rPr>
              <a:t>Status</a:t>
            </a:r>
            <a:endParaRPr lang="en-US" sz="1300" dirty="0"/>
          </a:p>
        </p:txBody>
      </p:sp>
      <p:sp>
        <p:nvSpPr>
          <p:cNvPr id="6" name="Text 3"/>
          <p:cNvSpPr/>
          <p:nvPr/>
        </p:nvSpPr>
        <p:spPr>
          <a:xfrm>
            <a:off x="4553712" y="1042416"/>
            <a:ext cx="3913632" cy="274320"/>
          </a:xfrm>
          <a:prstGeom prst="rect">
            <a:avLst/>
          </a:prstGeom>
          <a:noFill/>
          <a:ln/>
        </p:spPr>
        <p:txBody>
          <a:bodyPr wrap="square" lIns="0" tIns="0" rIns="0" bIns="0" rtlCol="0" anchor="ctr"/>
          <a:lstStyle/>
          <a:p>
            <a:pPr marL="0" indent="0" algn="l">
              <a:buNone/>
            </a:pPr>
            <a:r>
              <a:rPr lang="en-US" sz="1300" b="1" dirty="0">
                <a:solidFill>
                  <a:srgbClr val="000000"/>
                </a:solidFill>
                <a:latin typeface="Calibri" pitchFamily="34" charset="0"/>
                <a:ea typeface="Calibri" pitchFamily="34" charset="-122"/>
                <a:cs typeface="Calibri" pitchFamily="34" charset="-120"/>
              </a:rPr>
              <a:t>What's missing</a:t>
            </a:r>
            <a:endParaRPr lang="en-US" sz="1300" dirty="0"/>
          </a:p>
        </p:txBody>
      </p:sp>
      <p:sp>
        <p:nvSpPr>
          <p:cNvPr id="7" name="Shape 4"/>
          <p:cNvSpPr/>
          <p:nvPr/>
        </p:nvSpPr>
        <p:spPr>
          <a:xfrm>
            <a:off x="457200" y="1335024"/>
            <a:ext cx="8229600" cy="0"/>
          </a:xfrm>
          <a:prstGeom prst="line">
            <a:avLst/>
          </a:prstGeom>
          <a:noFill/>
          <a:ln w="12700">
            <a:solidFill>
              <a:srgbClr val="000000"/>
            </a:solidFill>
            <a:prstDash val="solid"/>
          </a:ln>
        </p:spPr>
        <p:txBody>
          <a:bodyPr/>
          <a:lstStyle/>
          <a:p>
            <a:endParaRPr lang="en-US"/>
          </a:p>
        </p:txBody>
      </p:sp>
      <p:sp>
        <p:nvSpPr>
          <p:cNvPr id="8" name="Text 5"/>
          <p:cNvSpPr/>
          <p:nvPr/>
        </p:nvSpPr>
        <p:spPr>
          <a:xfrm>
            <a:off x="530352" y="1371600"/>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File parser</a:t>
            </a:r>
            <a:endParaRPr lang="en-US" sz="1200" dirty="0"/>
          </a:p>
        </p:txBody>
      </p:sp>
      <p:sp>
        <p:nvSpPr>
          <p:cNvPr id="9" name="Text 6"/>
          <p:cNvSpPr/>
          <p:nvPr/>
        </p:nvSpPr>
        <p:spPr>
          <a:xfrm>
            <a:off x="2542032" y="1371600"/>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Working</a:t>
            </a:r>
            <a:endParaRPr lang="en-US" sz="1200" dirty="0"/>
          </a:p>
        </p:txBody>
      </p:sp>
      <p:sp>
        <p:nvSpPr>
          <p:cNvPr id="10" name="Text 7"/>
          <p:cNvSpPr/>
          <p:nvPr/>
        </p:nvSpPr>
        <p:spPr>
          <a:xfrm>
            <a:off x="4553712" y="1371600"/>
            <a:ext cx="391363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Legal-specific parsing, sentence segmentation pass</a:t>
            </a:r>
            <a:endParaRPr lang="en-US" sz="1200" dirty="0"/>
          </a:p>
        </p:txBody>
      </p:sp>
      <p:sp>
        <p:nvSpPr>
          <p:cNvPr id="11" name="Shape 8"/>
          <p:cNvSpPr/>
          <p:nvPr/>
        </p:nvSpPr>
        <p:spPr>
          <a:xfrm>
            <a:off x="457200" y="1664208"/>
            <a:ext cx="8229600" cy="0"/>
          </a:xfrm>
          <a:prstGeom prst="line">
            <a:avLst/>
          </a:prstGeom>
          <a:noFill/>
          <a:ln w="6350">
            <a:solidFill>
              <a:srgbClr val="CCCCCC"/>
            </a:solidFill>
            <a:prstDash val="solid"/>
          </a:ln>
        </p:spPr>
        <p:txBody>
          <a:bodyPr/>
          <a:lstStyle/>
          <a:p>
            <a:endParaRPr lang="en-US"/>
          </a:p>
        </p:txBody>
      </p:sp>
      <p:sp>
        <p:nvSpPr>
          <p:cNvPr id="12" name="Text 9"/>
          <p:cNvSpPr/>
          <p:nvPr/>
        </p:nvSpPr>
        <p:spPr>
          <a:xfrm>
            <a:off x="530352" y="1700784"/>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Boundary detector</a:t>
            </a:r>
            <a:endParaRPr lang="en-US" sz="1200" dirty="0"/>
          </a:p>
        </p:txBody>
      </p:sp>
      <p:sp>
        <p:nvSpPr>
          <p:cNvPr id="13" name="Text 10"/>
          <p:cNvSpPr/>
          <p:nvPr/>
        </p:nvSpPr>
        <p:spPr>
          <a:xfrm>
            <a:off x="2542032" y="1700784"/>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Coded, untrained</a:t>
            </a:r>
            <a:endParaRPr lang="en-US" sz="1200" dirty="0"/>
          </a:p>
        </p:txBody>
      </p:sp>
      <p:sp>
        <p:nvSpPr>
          <p:cNvPr id="14" name="Text 11"/>
          <p:cNvSpPr/>
          <p:nvPr/>
        </p:nvSpPr>
        <p:spPr>
          <a:xfrm>
            <a:off x="4553712" y="1700784"/>
            <a:ext cx="391363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Warm-start supervision, training data</a:t>
            </a:r>
            <a:endParaRPr lang="en-US" sz="1200" dirty="0"/>
          </a:p>
        </p:txBody>
      </p:sp>
      <p:sp>
        <p:nvSpPr>
          <p:cNvPr id="15" name="Shape 12"/>
          <p:cNvSpPr/>
          <p:nvPr/>
        </p:nvSpPr>
        <p:spPr>
          <a:xfrm>
            <a:off x="457200" y="1993392"/>
            <a:ext cx="8229600" cy="0"/>
          </a:xfrm>
          <a:prstGeom prst="line">
            <a:avLst/>
          </a:prstGeom>
          <a:noFill/>
          <a:ln w="6350">
            <a:solidFill>
              <a:srgbClr val="CCCCCC"/>
            </a:solidFill>
            <a:prstDash val="solid"/>
          </a:ln>
        </p:spPr>
        <p:txBody>
          <a:bodyPr/>
          <a:lstStyle/>
          <a:p>
            <a:endParaRPr lang="en-US"/>
          </a:p>
        </p:txBody>
      </p:sp>
      <p:sp>
        <p:nvSpPr>
          <p:cNvPr id="16" name="Text 13"/>
          <p:cNvSpPr/>
          <p:nvPr/>
        </p:nvSpPr>
        <p:spPr>
          <a:xfrm>
            <a:off x="530352" y="2029968"/>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Concept pooler</a:t>
            </a:r>
            <a:endParaRPr lang="en-US" sz="1200" dirty="0"/>
          </a:p>
        </p:txBody>
      </p:sp>
      <p:sp>
        <p:nvSpPr>
          <p:cNvPr id="17" name="Text 14"/>
          <p:cNvSpPr/>
          <p:nvPr/>
        </p:nvSpPr>
        <p:spPr>
          <a:xfrm>
            <a:off x="2542032" y="2029968"/>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Working (mean pool)</a:t>
            </a:r>
            <a:endParaRPr lang="en-US" sz="1200" dirty="0"/>
          </a:p>
        </p:txBody>
      </p:sp>
      <p:sp>
        <p:nvSpPr>
          <p:cNvPr id="18" name="Text 15"/>
          <p:cNvSpPr/>
          <p:nvPr/>
        </p:nvSpPr>
        <p:spPr>
          <a:xfrm>
            <a:off x="4553712" y="2029968"/>
            <a:ext cx="391363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Proper segment encoder, batch padding</a:t>
            </a:r>
            <a:endParaRPr lang="en-US" sz="1200" dirty="0"/>
          </a:p>
        </p:txBody>
      </p:sp>
      <p:sp>
        <p:nvSpPr>
          <p:cNvPr id="19" name="Shape 16"/>
          <p:cNvSpPr/>
          <p:nvPr/>
        </p:nvSpPr>
        <p:spPr>
          <a:xfrm>
            <a:off x="457200" y="2322576"/>
            <a:ext cx="8229600" cy="0"/>
          </a:xfrm>
          <a:prstGeom prst="line">
            <a:avLst/>
          </a:prstGeom>
          <a:noFill/>
          <a:ln w="6350">
            <a:solidFill>
              <a:srgbClr val="CCCCCC"/>
            </a:solidFill>
            <a:prstDash val="solid"/>
          </a:ln>
        </p:spPr>
        <p:txBody>
          <a:bodyPr/>
          <a:lstStyle/>
          <a:p>
            <a:endParaRPr lang="en-US"/>
          </a:p>
        </p:txBody>
      </p:sp>
      <p:sp>
        <p:nvSpPr>
          <p:cNvPr id="20" name="Text 17"/>
          <p:cNvSpPr/>
          <p:nvPr/>
        </p:nvSpPr>
        <p:spPr>
          <a:xfrm>
            <a:off x="530352" y="2359152"/>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Concept transformer</a:t>
            </a:r>
            <a:endParaRPr lang="en-US" sz="1200" dirty="0"/>
          </a:p>
        </p:txBody>
      </p:sp>
      <p:sp>
        <p:nvSpPr>
          <p:cNvPr id="21" name="Text 18"/>
          <p:cNvSpPr/>
          <p:nvPr/>
        </p:nvSpPr>
        <p:spPr>
          <a:xfrm>
            <a:off x="2542032" y="2359152"/>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Coded, untrained</a:t>
            </a:r>
            <a:endParaRPr lang="en-US" sz="1200" dirty="0"/>
          </a:p>
        </p:txBody>
      </p:sp>
      <p:sp>
        <p:nvSpPr>
          <p:cNvPr id="22" name="Text 19"/>
          <p:cNvSpPr/>
          <p:nvPr/>
        </p:nvSpPr>
        <p:spPr>
          <a:xfrm>
            <a:off x="4553712" y="2359152"/>
            <a:ext cx="391363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Training data, scaling to intended size</a:t>
            </a:r>
            <a:endParaRPr lang="en-US" sz="1200" dirty="0"/>
          </a:p>
        </p:txBody>
      </p:sp>
      <p:sp>
        <p:nvSpPr>
          <p:cNvPr id="23" name="Shape 20"/>
          <p:cNvSpPr/>
          <p:nvPr/>
        </p:nvSpPr>
        <p:spPr>
          <a:xfrm>
            <a:off x="457200" y="2651760"/>
            <a:ext cx="8229600" cy="0"/>
          </a:xfrm>
          <a:prstGeom prst="line">
            <a:avLst/>
          </a:prstGeom>
          <a:noFill/>
          <a:ln w="6350">
            <a:solidFill>
              <a:srgbClr val="CCCCCC"/>
            </a:solidFill>
            <a:prstDash val="solid"/>
          </a:ln>
        </p:spPr>
        <p:txBody>
          <a:bodyPr/>
          <a:lstStyle/>
          <a:p>
            <a:endParaRPr lang="en-US"/>
          </a:p>
        </p:txBody>
      </p:sp>
      <p:sp>
        <p:nvSpPr>
          <p:cNvPr id="24" name="Text 21"/>
          <p:cNvSpPr/>
          <p:nvPr/>
        </p:nvSpPr>
        <p:spPr>
          <a:xfrm>
            <a:off x="530352" y="2688336"/>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Cross-attn decoder</a:t>
            </a:r>
            <a:endParaRPr lang="en-US" sz="1200" dirty="0"/>
          </a:p>
        </p:txBody>
      </p:sp>
      <p:sp>
        <p:nvSpPr>
          <p:cNvPr id="25" name="Text 22"/>
          <p:cNvSpPr/>
          <p:nvPr/>
        </p:nvSpPr>
        <p:spPr>
          <a:xfrm>
            <a:off x="2542032" y="2688336"/>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Coded, untrained</a:t>
            </a:r>
            <a:endParaRPr lang="en-US" sz="1200" dirty="0"/>
          </a:p>
        </p:txBody>
      </p:sp>
      <p:sp>
        <p:nvSpPr>
          <p:cNvPr id="26" name="Text 23"/>
          <p:cNvSpPr/>
          <p:nvPr/>
        </p:nvSpPr>
        <p:spPr>
          <a:xfrm>
            <a:off x="4553712" y="2688336"/>
            <a:ext cx="391363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Dual-source attention path, KV cache</a:t>
            </a:r>
            <a:endParaRPr lang="en-US" sz="1200" dirty="0"/>
          </a:p>
        </p:txBody>
      </p:sp>
      <p:sp>
        <p:nvSpPr>
          <p:cNvPr id="27" name="Shape 24"/>
          <p:cNvSpPr/>
          <p:nvPr/>
        </p:nvSpPr>
        <p:spPr>
          <a:xfrm>
            <a:off x="457200" y="2980944"/>
            <a:ext cx="8229600" cy="0"/>
          </a:xfrm>
          <a:prstGeom prst="line">
            <a:avLst/>
          </a:prstGeom>
          <a:noFill/>
          <a:ln w="6350">
            <a:solidFill>
              <a:srgbClr val="CCCCCC"/>
            </a:solidFill>
            <a:prstDash val="solid"/>
          </a:ln>
        </p:spPr>
        <p:txBody>
          <a:bodyPr/>
          <a:lstStyle/>
          <a:p>
            <a:endParaRPr lang="en-US"/>
          </a:p>
        </p:txBody>
      </p:sp>
      <p:sp>
        <p:nvSpPr>
          <p:cNvPr id="28" name="Text 25"/>
          <p:cNvSpPr/>
          <p:nvPr/>
        </p:nvSpPr>
        <p:spPr>
          <a:xfrm>
            <a:off x="530352" y="3017520"/>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Training loop</a:t>
            </a:r>
            <a:endParaRPr lang="en-US" sz="1200" dirty="0"/>
          </a:p>
        </p:txBody>
      </p:sp>
      <p:sp>
        <p:nvSpPr>
          <p:cNvPr id="29" name="Text 26"/>
          <p:cNvSpPr/>
          <p:nvPr/>
        </p:nvSpPr>
        <p:spPr>
          <a:xfrm>
            <a:off x="2542032" y="3017520"/>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Working</a:t>
            </a:r>
            <a:endParaRPr lang="en-US" sz="1200" dirty="0"/>
          </a:p>
        </p:txBody>
      </p:sp>
      <p:sp>
        <p:nvSpPr>
          <p:cNvPr id="30" name="Text 27"/>
          <p:cNvSpPr/>
          <p:nvPr/>
        </p:nvSpPr>
        <p:spPr>
          <a:xfrm>
            <a:off x="4553712" y="3017520"/>
            <a:ext cx="391363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Data pipeline, eval loop, mixed precision</a:t>
            </a:r>
            <a:endParaRPr lang="en-US" sz="1200" dirty="0"/>
          </a:p>
        </p:txBody>
      </p:sp>
      <p:sp>
        <p:nvSpPr>
          <p:cNvPr id="31" name="Shape 28"/>
          <p:cNvSpPr/>
          <p:nvPr/>
        </p:nvSpPr>
        <p:spPr>
          <a:xfrm>
            <a:off x="457200" y="3310128"/>
            <a:ext cx="8229600" cy="0"/>
          </a:xfrm>
          <a:prstGeom prst="line">
            <a:avLst/>
          </a:prstGeom>
          <a:noFill/>
          <a:ln w="6350">
            <a:solidFill>
              <a:srgbClr val="CCCCCC"/>
            </a:solidFill>
            <a:prstDash val="solid"/>
          </a:ln>
        </p:spPr>
        <p:txBody>
          <a:bodyPr/>
          <a:lstStyle/>
          <a:p>
            <a:endParaRPr lang="en-US"/>
          </a:p>
        </p:txBody>
      </p:sp>
      <p:sp>
        <p:nvSpPr>
          <p:cNvPr id="32" name="Text 29"/>
          <p:cNvSpPr/>
          <p:nvPr/>
        </p:nvSpPr>
        <p:spPr>
          <a:xfrm>
            <a:off x="530352" y="3346704"/>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Data pipeline</a:t>
            </a:r>
            <a:endParaRPr lang="en-US" sz="1200" dirty="0"/>
          </a:p>
        </p:txBody>
      </p:sp>
      <p:sp>
        <p:nvSpPr>
          <p:cNvPr id="33" name="Text 30"/>
          <p:cNvSpPr/>
          <p:nvPr/>
        </p:nvSpPr>
        <p:spPr>
          <a:xfrm>
            <a:off x="2542032" y="3346704"/>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Not built</a:t>
            </a:r>
            <a:endParaRPr lang="en-US" sz="1200" dirty="0"/>
          </a:p>
        </p:txBody>
      </p:sp>
      <p:sp>
        <p:nvSpPr>
          <p:cNvPr id="34" name="Text 31"/>
          <p:cNvSpPr/>
          <p:nvPr/>
        </p:nvSpPr>
        <p:spPr>
          <a:xfrm>
            <a:off x="4553712" y="3346704"/>
            <a:ext cx="391363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Scraping, SONAR encoding, dataset construction</a:t>
            </a:r>
            <a:endParaRPr lang="en-US" sz="1200" dirty="0"/>
          </a:p>
        </p:txBody>
      </p:sp>
      <p:sp>
        <p:nvSpPr>
          <p:cNvPr id="35" name="Shape 32"/>
          <p:cNvSpPr/>
          <p:nvPr/>
        </p:nvSpPr>
        <p:spPr>
          <a:xfrm>
            <a:off x="457200" y="3639312"/>
            <a:ext cx="8229600" cy="0"/>
          </a:xfrm>
          <a:prstGeom prst="line">
            <a:avLst/>
          </a:prstGeom>
          <a:noFill/>
          <a:ln w="6350">
            <a:solidFill>
              <a:srgbClr val="CCCCCC"/>
            </a:solidFill>
            <a:prstDash val="solid"/>
          </a:ln>
        </p:spPr>
        <p:txBody>
          <a:bodyPr/>
          <a:lstStyle/>
          <a:p>
            <a:endParaRPr lang="en-US"/>
          </a:p>
        </p:txBody>
      </p:sp>
      <p:sp>
        <p:nvSpPr>
          <p:cNvPr id="36" name="Text 33"/>
          <p:cNvSpPr/>
          <p:nvPr/>
        </p:nvSpPr>
        <p:spPr>
          <a:xfrm>
            <a:off x="530352" y="3675888"/>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Evaluation</a:t>
            </a:r>
            <a:endParaRPr lang="en-US" sz="1200" dirty="0"/>
          </a:p>
        </p:txBody>
      </p:sp>
      <p:sp>
        <p:nvSpPr>
          <p:cNvPr id="37" name="Text 34"/>
          <p:cNvSpPr/>
          <p:nvPr/>
        </p:nvSpPr>
        <p:spPr>
          <a:xfrm>
            <a:off x="2542032" y="3675888"/>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Not built</a:t>
            </a:r>
            <a:endParaRPr lang="en-US" sz="1200" dirty="0"/>
          </a:p>
        </p:txBody>
      </p:sp>
      <p:sp>
        <p:nvSpPr>
          <p:cNvPr id="38" name="Text 35"/>
          <p:cNvSpPr/>
          <p:nvPr/>
        </p:nvSpPr>
        <p:spPr>
          <a:xfrm>
            <a:off x="4553712" y="3675888"/>
            <a:ext cx="391363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AutoBLEU, coherence scoring, baseline comparison</a:t>
            </a:r>
            <a:endParaRPr lang="en-US" sz="1200" dirty="0"/>
          </a:p>
        </p:txBody>
      </p:sp>
      <p:sp>
        <p:nvSpPr>
          <p:cNvPr id="39" name="Shape 36"/>
          <p:cNvSpPr/>
          <p:nvPr/>
        </p:nvSpPr>
        <p:spPr>
          <a:xfrm>
            <a:off x="457200" y="3968496"/>
            <a:ext cx="8229600" cy="0"/>
          </a:xfrm>
          <a:prstGeom prst="line">
            <a:avLst/>
          </a:prstGeom>
          <a:noFill/>
          <a:ln w="6350">
            <a:solidFill>
              <a:srgbClr val="CCCCCC"/>
            </a:solidFill>
            <a:prstDash val="solid"/>
          </a:ln>
        </p:spPr>
        <p:txBody>
          <a:bodyPr/>
          <a:lstStyle/>
          <a:p>
            <a:endParaRPr lang="en-US"/>
          </a:p>
        </p:txBody>
      </p:sp>
      <p:sp>
        <p:nvSpPr>
          <p:cNvPr id="40" name="Text 37"/>
          <p:cNvSpPr/>
          <p:nvPr/>
        </p:nvSpPr>
        <p:spPr>
          <a:xfrm>
            <a:off x="530352" y="4005072"/>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Inference</a:t>
            </a:r>
            <a:endParaRPr lang="en-US" sz="1200" dirty="0"/>
          </a:p>
        </p:txBody>
      </p:sp>
      <p:sp>
        <p:nvSpPr>
          <p:cNvPr id="41" name="Text 38"/>
          <p:cNvSpPr/>
          <p:nvPr/>
        </p:nvSpPr>
        <p:spPr>
          <a:xfrm>
            <a:off x="2542032" y="4005072"/>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Naive (no cache)</a:t>
            </a:r>
            <a:endParaRPr lang="en-US" sz="1200" dirty="0"/>
          </a:p>
        </p:txBody>
      </p:sp>
      <p:sp>
        <p:nvSpPr>
          <p:cNvPr id="42" name="Text 39"/>
          <p:cNvSpPr/>
          <p:nvPr/>
        </p:nvSpPr>
        <p:spPr>
          <a:xfrm>
            <a:off x="4553712" y="4005072"/>
            <a:ext cx="391363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KV cache, streaming output</a:t>
            </a:r>
            <a:endParaRPr lang="en-US" sz="1200" dirty="0"/>
          </a:p>
        </p:txBody>
      </p:sp>
      <p:sp>
        <p:nvSpPr>
          <p:cNvPr id="43" name="Shape 40"/>
          <p:cNvSpPr/>
          <p:nvPr/>
        </p:nvSpPr>
        <p:spPr>
          <a:xfrm>
            <a:off x="457200" y="4297680"/>
            <a:ext cx="8229600" cy="0"/>
          </a:xfrm>
          <a:prstGeom prst="line">
            <a:avLst/>
          </a:prstGeom>
          <a:noFill/>
          <a:ln w="6350">
            <a:solidFill>
              <a:srgbClr val="CCCCCC"/>
            </a:solidFill>
            <a:prstDash val="solid"/>
          </a:ln>
        </p:spPr>
        <p:txBody>
          <a:bodyPr/>
          <a:lstStyle/>
          <a:p>
            <a:endParaRPr lang="en-US"/>
          </a:p>
        </p:txBody>
      </p:sp>
      <p:sp>
        <p:nvSpPr>
          <p:cNvPr id="44" name="Text 41"/>
          <p:cNvSpPr/>
          <p:nvPr/>
        </p:nvSpPr>
        <p:spPr>
          <a:xfrm>
            <a:off x="530352" y="4334256"/>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Concept-level loss</a:t>
            </a:r>
            <a:endParaRPr lang="en-US" sz="1200" dirty="0"/>
          </a:p>
        </p:txBody>
      </p:sp>
      <p:sp>
        <p:nvSpPr>
          <p:cNvPr id="45" name="Text 42"/>
          <p:cNvSpPr/>
          <p:nvPr/>
        </p:nvSpPr>
        <p:spPr>
          <a:xfrm>
            <a:off x="2542032" y="4334256"/>
            <a:ext cx="190195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Not built</a:t>
            </a:r>
            <a:endParaRPr lang="en-US" sz="1200" dirty="0"/>
          </a:p>
        </p:txBody>
      </p:sp>
      <p:sp>
        <p:nvSpPr>
          <p:cNvPr id="46" name="Text 43"/>
          <p:cNvSpPr/>
          <p:nvPr/>
        </p:nvSpPr>
        <p:spPr>
          <a:xfrm>
            <a:off x="4553712" y="4334256"/>
            <a:ext cx="3913632" cy="274320"/>
          </a:xfrm>
          <a:prstGeom prst="rect">
            <a:avLst/>
          </a:prstGeom>
          <a:noFill/>
          <a:ln/>
        </p:spPr>
        <p:txBody>
          <a:bodyPr wrap="square" lIns="0" tIns="0" rIns="0" bIns="0" rtlCol="0" anchor="ctr"/>
          <a:lstStyle/>
          <a:p>
            <a:pPr marL="0" indent="0" algn="l">
              <a:buNone/>
            </a:pPr>
            <a:r>
              <a:rPr lang="en-US" sz="1200" dirty="0">
                <a:solidFill>
                  <a:srgbClr val="000000"/>
                </a:solidFill>
                <a:latin typeface="Calibri" pitchFamily="34" charset="0"/>
                <a:ea typeface="Calibri" pitchFamily="34" charset="-122"/>
                <a:cs typeface="Calibri" pitchFamily="34" charset="-120"/>
              </a:rPr>
              <a:t>Concept prediction head, cosine loss</a:t>
            </a:r>
            <a:endParaRPr lang="en-US" sz="1200" dirty="0"/>
          </a:p>
        </p:txBody>
      </p:sp>
      <p:sp>
        <p:nvSpPr>
          <p:cNvPr id="47" name="Shape 44"/>
          <p:cNvSpPr/>
          <p:nvPr/>
        </p:nvSpPr>
        <p:spPr>
          <a:xfrm>
            <a:off x="457200" y="4626864"/>
            <a:ext cx="8229600" cy="0"/>
          </a:xfrm>
          <a:prstGeom prst="line">
            <a:avLst/>
          </a:prstGeom>
          <a:noFill/>
          <a:ln w="6350">
            <a:solidFill>
              <a:srgbClr val="CCCCCC"/>
            </a:solidFill>
            <a:prstDash val="solid"/>
          </a:ln>
        </p:spPr>
        <p:txBody>
          <a:bodyPr/>
          <a:lstStyle/>
          <a:p>
            <a:endParaRPr lang="en-US"/>
          </a:p>
        </p:txBody>
      </p:sp>
      <p:sp>
        <p:nvSpPr>
          <p:cNvPr id="48" name="Shape 45"/>
          <p:cNvSpPr/>
          <p:nvPr/>
        </p:nvSpPr>
        <p:spPr>
          <a:xfrm>
            <a:off x="457200" y="1005840"/>
            <a:ext cx="8229600" cy="0"/>
          </a:xfrm>
          <a:prstGeom prst="line">
            <a:avLst/>
          </a:prstGeom>
          <a:noFill/>
          <a:ln w="12700">
            <a:solidFill>
              <a:srgbClr val="000000"/>
            </a:solidFill>
            <a:prstDash val="solid"/>
          </a:ln>
        </p:spPr>
        <p:txBody>
          <a:bodyPr/>
          <a:lstStyle/>
          <a:p>
            <a:endParaRPr lang="en-US"/>
          </a:p>
        </p:txBody>
      </p:sp>
      <p:sp>
        <p:nvSpPr>
          <p:cNvPr id="49" name="Shape 46"/>
          <p:cNvSpPr/>
          <p:nvPr/>
        </p:nvSpPr>
        <p:spPr>
          <a:xfrm>
            <a:off x="2468880" y="1005840"/>
            <a:ext cx="0" cy="3621024"/>
          </a:xfrm>
          <a:prstGeom prst="line">
            <a:avLst/>
          </a:prstGeom>
          <a:noFill/>
          <a:ln w="9525">
            <a:solidFill>
              <a:srgbClr val="CCCCCC"/>
            </a:solidFill>
            <a:prstDash val="solid"/>
          </a:ln>
        </p:spPr>
        <p:txBody>
          <a:bodyPr/>
          <a:lstStyle/>
          <a:p>
            <a:endParaRPr lang="en-US"/>
          </a:p>
        </p:txBody>
      </p:sp>
      <p:sp>
        <p:nvSpPr>
          <p:cNvPr id="50" name="Shape 47"/>
          <p:cNvSpPr/>
          <p:nvPr/>
        </p:nvSpPr>
        <p:spPr>
          <a:xfrm>
            <a:off x="4480560" y="1005840"/>
            <a:ext cx="0" cy="3621024"/>
          </a:xfrm>
          <a:prstGeom prst="line">
            <a:avLst/>
          </a:prstGeom>
          <a:noFill/>
          <a:ln w="9525">
            <a:solidFill>
              <a:srgbClr val="CCCCCC"/>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2544</Words>
  <Application>Microsoft Macintosh PowerPoint</Application>
  <PresentationFormat>On-screen Show (16:9)</PresentationFormat>
  <Paragraphs>218</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LCM: Full Vision &amp; Current Code</dc:title>
  <dc:subject>PptxGenJS Presentation</dc:subject>
  <dc:creator>PptxGenJS</dc:creator>
  <cp:lastModifiedBy>Nicholas Dhaliwal</cp:lastModifiedBy>
  <cp:revision>3</cp:revision>
  <dcterms:created xsi:type="dcterms:W3CDTF">2026-04-10T07:37:15Z</dcterms:created>
  <dcterms:modified xsi:type="dcterms:W3CDTF">2026-04-10T15:14:52Z</dcterms:modified>
</cp:coreProperties>
</file>