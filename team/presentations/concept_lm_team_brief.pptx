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5EEAD4">
              <a:alpha val="40000"/>
            </a:srgbClr>
          </a:solidFill>
          <a:ln w="12700">
            <a:solidFill>
              <a:srgbClr val="5EEAD4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Concept-Level LM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code works · What papers solve · Where we fall short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502920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017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Brief — April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Token-uniform compute is the wrong design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2743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63040"/>
            <a:ext cx="54864" cy="2560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6002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11480" y="25146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compute spent on every token equally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463040"/>
            <a:ext cx="2743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463040"/>
            <a:ext cx="54864" cy="2560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6002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383280" y="25146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tokens carry ≥90% of semantic information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463040"/>
            <a:ext cx="2743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463040"/>
            <a:ext cx="54864" cy="256032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16002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R²×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355080" y="25146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quadratic attention savings from concept-level processing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251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has non-uniform information density. Long predictable spans are interspersed with semantically critical transitions where new concepts begin. Standard LLMs allocate identical compute to both — a fundamental mismatch.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</a:rPr>
              <a:t>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5-Stage Concept LM Pipeline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28600" y="1417320"/>
            <a:ext cx="1508760" cy="2286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14630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28600" y="20116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File Parser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" y="2542032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EAD4"/>
                </a:solidFill>
              </a:rPr>
              <a:t>PDF · .py · .md · .docx · .ipynb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737360" y="2560320"/>
            <a:ext cx="2286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65960" y="1417320"/>
            <a:ext cx="1508760" cy="2286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965960" y="14630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965960" y="20116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Token Encoder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65960" y="2542032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EAD4"/>
                </a:solidFill>
              </a:rPr>
              <a:t>Mamba-2 / Transformer  →  H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74720" y="2560320"/>
            <a:ext cx="2286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03320" y="1417320"/>
            <a:ext cx="1508760" cy="2286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703320" y="14630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703320" y="20116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Boundary Det.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03320" y="2542032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EAD4"/>
                </a:solidFill>
              </a:rPr>
              <a:t>Cosine dissimilarity  →  segments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212080" y="2560320"/>
            <a:ext cx="2286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40680" y="1417320"/>
            <a:ext cx="1508760" cy="2286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40680" y="14630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40680" y="20116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Concept Xformer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40680" y="2542032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EAD4"/>
                </a:solidFill>
              </a:rPr>
              <a:t>Deep reasoning on C (M &lt;&lt; L)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949440" y="2560320"/>
            <a:ext cx="2286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78040" y="1417320"/>
            <a:ext cx="1508760" cy="2286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178040" y="14630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178040" y="20116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Cross-Attn Dec.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178040" y="2542032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EAD4"/>
                </a:solidFill>
              </a:rPr>
              <a:t>Causal concept→token reconstruction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3977640"/>
            <a:ext cx="8595360" cy="77724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00507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p_t = (1 − cos(q_{t−1}, k_t)) / 2    →    Bernoulli(p_t^sharp) [train]  |  p_t ≥ 0.5 [infer]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</a:rPr>
              <a:t>CODE: SRC/MODEL.PY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module does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4160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17320"/>
            <a:ext cx="54864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7218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TokenEncoder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819656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Causal Transformer/Mamba-2. Produces H = E(x) — contextual token reps.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587752"/>
            <a:ext cx="4160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587752"/>
            <a:ext cx="54864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64261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BoundaryDetector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99008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Projects H into query-key space. Scores cosine dissimilarity. Returns binary b and probability p.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3758184"/>
            <a:ext cx="4160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758184"/>
            <a:ext cx="54864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8130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GlobalLoadBalancer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16052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Aux loss L_aux that drives global boundary rate toward 1/R via AllReduce-compatible statistics G and F.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1417320"/>
            <a:ext cx="4160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1417320"/>
            <a:ext cx="54864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47218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ConceptPooler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1819656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Mean-pools tokens within each segment. Projects to d_concept via W_up. Outputs C = [c_1…c_M].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587752"/>
            <a:ext cx="4160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2587752"/>
            <a:ext cx="54864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264261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ConceptTransformer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92040" y="299008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High-capacity causal Transformer. Reasons over compressed concept sequence. Primary compute site.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3758184"/>
            <a:ext cx="4160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3758184"/>
            <a:ext cx="54864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8130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CrossAttentionDecoder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92040" y="416052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Token t attends only to concepts C_1…C_{j(t)}. Heterogeneous dims handled via WQ (d_token) / WK,WV (d_concept).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</a:rPr>
              <a:t>CODE: SRC/TRAIN.PY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joint loss + decoupled muP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3931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17320"/>
            <a:ext cx="54864" cy="3200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</a:rPr>
              <a:t>Joint Loss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356616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03911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L_NTP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00200" y="203911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Standard next-token cross-entropy (primary)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670048"/>
            <a:ext cx="356616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69748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L_aux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600200" y="26974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Boundary load balancing: guides rate toward 1/R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328416"/>
            <a:ext cx="356616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355848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L_concept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600200" y="335584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SAE concept supervision (CoCoMix-style, optional)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986784"/>
            <a:ext cx="3566160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014216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L_total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00200" y="4014216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= L_NTP  +  w_aux · L_aux  +  w_c · L_concept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434840" y="1417320"/>
            <a:ext cx="43891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434840" y="1417320"/>
            <a:ext cx="54864" cy="320040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15087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</a:rPr>
              <a:t>Decoupled muP Optimizer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617720" y="1993392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3 independent parameter groups — each LR scales inversely with component width: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17720" y="2578608"/>
            <a:ext cx="4023360" cy="566928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26060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token_level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26480" y="26060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lr_token   = 3e-4 / s_token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TokenEncoder + Decoder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17720" y="3236976"/>
            <a:ext cx="4023360" cy="566928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326440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concept_level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26480" y="326440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lr_concept = 1.5e-4 / s_concept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ConceptTransformer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17720" y="3895344"/>
            <a:ext cx="4023360" cy="566928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3922776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boundary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26480" y="3922776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lr_boundary = 3e-4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BoundaryDetector + Pooler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</a:rPr>
              <a:t>RESEARCH FOUNDATION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papers — what each one unlocks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82880" y="1371600"/>
            <a:ext cx="2651760" cy="347472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389888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Paper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926080" y="1371600"/>
            <a:ext cx="3291840" cy="347472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71800" y="1389888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It Solves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309360" y="1371600"/>
            <a:ext cx="2926080" cy="347472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1389888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What's Still Missing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2880" y="1737360"/>
            <a:ext cx="265176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0" y="1737360"/>
            <a:ext cx="329184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737360"/>
            <a:ext cx="292608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17556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LCM (Meta 2024)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971800" y="175564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F2E"/>
                </a:solidFill>
              </a:rPr>
              <a:t>Proves concept-level reasoning works at 7B scale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355080" y="175564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392B"/>
                </a:solidFill>
              </a:rPr>
              <a:t>Fixed sentence boundaries — granularity not learned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82880" y="2039112"/>
            <a:ext cx="26517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26080" y="2039112"/>
            <a:ext cx="32918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2039112"/>
            <a:ext cx="29260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20574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DLCM (ByteDance 2025)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971800" y="205740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F2E"/>
                </a:solidFill>
              </a:rPr>
              <a:t>Learned boundary detection + compression-aware scaling law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355080" y="205740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392B"/>
                </a:solidFill>
              </a:rPr>
              <a:t>No file-input frontend; no instruction fine-tuning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82880" y="2340864"/>
            <a:ext cx="265176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26080" y="2340864"/>
            <a:ext cx="329184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09360" y="2340864"/>
            <a:ext cx="292608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235915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H-Net (CMU 2025)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971800" y="235915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F2E"/>
                </a:solidFill>
              </a:rPr>
              <a:t>End-to-end dynamic chunking; EMA smoothing for stable training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355080" y="235915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392B"/>
                </a:solidFill>
              </a:rPr>
              <a:t>Byte-level only — not semantic-concept level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82880" y="2642616"/>
            <a:ext cx="26517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926080" y="2642616"/>
            <a:ext cx="32918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09360" y="2642616"/>
            <a:ext cx="29260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8600" y="266090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BLT (Meta 2024)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971800" y="266090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F2E"/>
                </a:solidFill>
              </a:rPr>
              <a:t>Entropy-based patching; tripartite encoder/backbone/decoder pattern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355080" y="2660904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392B"/>
                </a:solidFill>
              </a:rPr>
              <a:t>External entropy oracle; no concept reasoning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82880" y="2944368"/>
            <a:ext cx="265176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926080" y="2944368"/>
            <a:ext cx="329184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09360" y="2944368"/>
            <a:ext cx="292608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8600" y="296265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SONAR (Meta 2023)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971800" y="296265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F2E"/>
                </a:solidFill>
              </a:rPr>
              <a:t>1024-d language-agnostic sentence embeddings for 200 languages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355080" y="2962656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392B"/>
                </a:solidFill>
              </a:rPr>
              <a:t>Fixed-size bottleneck; fragile under noise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82880" y="3246120"/>
            <a:ext cx="26517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926080" y="3246120"/>
            <a:ext cx="32918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09360" y="3246120"/>
            <a:ext cx="29260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28600" y="32644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COCONUT (Meta 2024)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2971800" y="326440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F2E"/>
                </a:solidFill>
              </a:rPr>
              <a:t>Latent BFS reasoning; multi-stage curriculum fine-tuning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355080" y="326440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392B"/>
                </a:solidFill>
              </a:rPr>
              <a:t>Requires CoT supervision data to start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82880" y="3547872"/>
            <a:ext cx="265176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926080" y="3547872"/>
            <a:ext cx="329184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309360" y="3547872"/>
            <a:ext cx="292608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28600" y="35661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CoCoMix (Meta 2025)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2971800" y="356616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F2E"/>
                </a:solidFill>
              </a:rPr>
              <a:t>SAE concept supervision + joint NTP training objective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355080" y="356616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392B"/>
                </a:solidFill>
              </a:rPr>
              <a:t>SAE training adds cost; no dynamic boundaries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182880" y="3849624"/>
            <a:ext cx="26517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926080" y="3849624"/>
            <a:ext cx="32918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309360" y="3849624"/>
            <a:ext cx="29260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28600" y="386791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Mamba (CMU 2023)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2971800" y="386791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F2E"/>
                </a:solidFill>
              </a:rPr>
              <a:t>Linear-time SSM encoder/decoder with compression inductive bias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355080" y="386791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392B"/>
                </a:solidFill>
              </a:rPr>
              <a:t>Requires CUDA kernel install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182880" y="4151376"/>
            <a:ext cx="265176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926080" y="4151376"/>
            <a:ext cx="329184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309360" y="4151376"/>
            <a:ext cx="292608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28600" y="416966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Kaplan Scaling (2020)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2971800" y="416966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F2E"/>
                </a:solidFill>
              </a:rPr>
              <a:t>Baseline power-law framework to compare against DLCM law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6355080" y="4169664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392B"/>
                </a:solidFill>
              </a:rPr>
              <a:t>Does not model compression ratio or backbone split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182880" y="4453128"/>
            <a:ext cx="26517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926080" y="4453128"/>
            <a:ext cx="32918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309360" y="4453128"/>
            <a:ext cx="29260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28600" y="447141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muP (Microsoft 2022)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2971800" y="447141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F2E"/>
                </a:solidFill>
              </a:rPr>
              <a:t>Zero-shot LR transfer from proxy model to full scale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6355080" y="4471416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392B"/>
                </a:solidFill>
              </a:rPr>
              <a:t>Requires proxy training run before full training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</a:rPr>
              <a:t>NOTEBOOKS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notebooks — what each one builds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28600" y="137160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371600"/>
            <a:ext cx="54864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" y="1371600"/>
            <a:ext cx="50292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" y="15544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86968" y="142646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</a:rPr>
              <a:t>Tokenization Baselines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86968" y="1719072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BPE entropy profiling; multilingual token-cost inequity; motivation for concept-level boundaries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8600" y="2240280"/>
            <a:ext cx="54864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3464" y="2240280"/>
            <a:ext cx="50292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464" y="24231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86968" y="229514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</a:rPr>
              <a:t>SONAR Exploration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86968" y="2587752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Encode/decode round-trips; cosine similarity matrices; fragility analysis under Gaussian noise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28600" y="310896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3108960"/>
            <a:ext cx="54864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3464" y="3108960"/>
            <a:ext cx="50292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3464" y="32918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86968" y="316382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</a:rPr>
              <a:t>Boundary Detection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86968" y="3456432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Cosine dissimilarity scoring; Bernoulli vs. hard threshold; Global Load Balancing loss sweep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28600" y="397764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28600" y="3977640"/>
            <a:ext cx="54864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3464" y="3977640"/>
            <a:ext cx="50292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3464" y="41605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86968" y="403250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</a:rPr>
              <a:t>Concept Pooling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86968" y="4325112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Mean-pool compression; R ablation (2/4/8/16); adaptive granularity by content type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09160" y="137160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1371600"/>
            <a:ext cx="54864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64024" y="1371600"/>
            <a:ext cx="50292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64024" y="15544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67528" y="142646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</a:rPr>
              <a:t>Scaling Laws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67528" y="1719072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Kaplan power-law fit; DLCM N_eff(N,R,P) model; FLOP analysis vs. standard Transformer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09160" y="224028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2240280"/>
            <a:ext cx="54864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64024" y="2240280"/>
            <a:ext cx="50292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64024" y="24231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367528" y="229514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</a:rPr>
              <a:t>File Parsing Pipeline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367528" y="2587752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PDF/Python/Markdown/Notebook ingestion; domain-aware segment size distributions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709160" y="310896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09160" y="3108960"/>
            <a:ext cx="54864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64024" y="3108960"/>
            <a:ext cx="50292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64024" y="32918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07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367528" y="316382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</a:rPr>
              <a:t>End-to-End Training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367528" y="3456432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Decoupled muP optimizer; joint loss loop; boundary rate monitoring during training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709160" y="397764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709160" y="3977640"/>
            <a:ext cx="54864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764024" y="3977640"/>
            <a:ext cx="50292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64024" y="41605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08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5367528" y="403250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</a:rPr>
              <a:t>Concept Chatbot Inference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367528" y="4325112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Full 5-stage pipeline demo; file upload → concept segments → response; attention FLOP comparison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</a:rPr>
              <a:t>OPEN PROBLEMS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still fall short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28600" y="1371600"/>
            <a:ext cx="4251960" cy="107899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371600"/>
            <a:ext cx="54864" cy="10789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426464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Named entity / number fidelity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3192" y="173736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Mean pooling loses precision on rare tokens, numbers, and proper names. SONAR's fixed bottleneck compounds this. No paper fully solves it.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93192" y="2139696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392B"/>
                </a:solidFill>
              </a:rPr>
              <a:t>Fix: Residual byte-level pathway that bypasses the concept bottleneck for high-entropy tokens.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28600" y="2560320"/>
            <a:ext cx="4251960" cy="107899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2560320"/>
            <a:ext cx="54864" cy="10789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" y="2615184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Decoding fidelity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3192" y="292608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Cross-attention decoder reconstructing tokens from concept vectors is lossy. The decoder must attend to both raw encoder states H and concept states Z.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93192" y="3328416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392B"/>
                </a:solidFill>
              </a:rPr>
              <a:t>Fix: Dual-source cross-attention (H + Z as separate key-value streams); not yet implemented.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28600" y="3749040"/>
            <a:ext cx="4251960" cy="107899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3749040"/>
            <a:ext cx="54864" cy="1078992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" y="3803904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Domain boundary instability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93192" y="411480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 boundary detector trained on news prose may produce pathological segmentation on Python code. Global Load Balancer doesn't distinguish domains.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93192" y="4517136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C430"/>
                </a:solidFill>
              </a:rPr>
              <a:t>Fix: Per-domain target ratios with domain classifier; multi-domain AllReduce during pretraining.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800600" y="1371600"/>
            <a:ext cx="4251960" cy="107899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1371600"/>
            <a:ext cx="54864" cy="1078992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65192" y="1426464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 concept-level evaluation metric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65192" y="173736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Standard perplexity is meaningless at concept granularity. AutoBLEU measures round-trip quality but not reasoning quality.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65192" y="2139696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C430"/>
                </a:solidFill>
              </a:rPr>
              <a:t>Fix: Concept-level BLEU / semantic similarity to reference concept sequence; zero-shot benchmark suite.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800600" y="2560320"/>
            <a:ext cx="4251960" cy="107899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2560320"/>
            <a:ext cx="54864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65192" y="2615184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Training scale not validated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65192" y="292608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DLCM scaling law L(N,D,R,P) derived analytically but not empirically verified on our architecture. Proxy model muP transfer not yet run.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65192" y="3328416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</a:rPr>
              <a:t>Fix: Run 100M-param proxy training with muP grid search, then transfer LRs to 1B target.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800600" y="3749040"/>
            <a:ext cx="4251960" cy="107899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3749040"/>
            <a:ext cx="54864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65192" y="3803904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File parsing coverage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65192" y="411480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LaTeX, HTML, JSON, and database dumps not handled. Long-context documents (100k+ tokens) exceed max_seq_len without chunking strategy.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965192" y="4517136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</a:rPr>
              <a:t>Fix: Add format-specific parsers; implement sliding window + concept-cache for long documents.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</a:rPr>
              <a:t>NEXT STEPS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build next, in order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28600" y="1417320"/>
            <a:ext cx="4251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417320"/>
            <a:ext cx="54864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8328" y="1673352"/>
            <a:ext cx="438912" cy="43891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6733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11880" y="1472184"/>
            <a:ext cx="777240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30168" y="1481328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Training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886968" y="149047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2E"/>
                </a:solidFill>
              </a:rPr>
              <a:t>Run proxy muP training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86968" y="1837944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50M-param model, grid-search lr_token × lr_concept. Transfer LRs to 1B config.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8600" y="2532888"/>
            <a:ext cx="4251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2532888"/>
            <a:ext cx="54864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328" y="2788920"/>
            <a:ext cx="438912" cy="43891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" y="27889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11880" y="2587752"/>
            <a:ext cx="777240" cy="2286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30168" y="2596896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Architecture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886968" y="26060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2E"/>
                </a:solidFill>
              </a:rPr>
              <a:t>Add dual-source decoder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86968" y="2953512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Second cross-attention stream attending directly to H alongside Z. Fixes decoding fidelity gap.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28600" y="3648456"/>
            <a:ext cx="4251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28600" y="3648456"/>
            <a:ext cx="54864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8328" y="3904488"/>
            <a:ext cx="438912" cy="43891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" y="39044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611880" y="3703320"/>
            <a:ext cx="777240" cy="22860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30168" y="3712464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Data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886968" y="372160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2E"/>
                </a:solidFill>
              </a:rPr>
              <a:t>Multi-domain pretraining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86968" y="406908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Mix news + code + math. Add per-domain target ratio R_d to load balancer.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00600" y="1417320"/>
            <a:ext cx="4251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1417320"/>
            <a:ext cx="54864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10328" y="1673352"/>
            <a:ext cx="438912" cy="43891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0328" y="16733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183880" y="1472184"/>
            <a:ext cx="777240" cy="2286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02168" y="1481328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Architecture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458968" y="149047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2E"/>
                </a:solidFill>
              </a:rPr>
              <a:t>Residual byte pathway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58968" y="1837944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Bypass concept bottleneck for tokens with entropy &gt; threshold. Fixes named-entity loss.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00600" y="2532888"/>
            <a:ext cx="4251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800600" y="2532888"/>
            <a:ext cx="54864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910328" y="2788920"/>
            <a:ext cx="438912" cy="43891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10328" y="27889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8183880" y="2587752"/>
            <a:ext cx="777240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02168" y="2596896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Evaluation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5458968" y="26060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2E"/>
                </a:solidFill>
              </a:rPr>
              <a:t>Concept-level eval suite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458968" y="2953512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AutoBLEU + zero-shot benchmarks (HellaSwag, ARC, GSM8K) vs. matched-FLOP standard LLM.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800600" y="3648456"/>
            <a:ext cx="4251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800600" y="3648456"/>
            <a:ext cx="54864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910328" y="3904488"/>
            <a:ext cx="438912" cy="43891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10328" y="39044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8183880" y="3703320"/>
            <a:ext cx="777240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202168" y="3712464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Training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5458968" y="372160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2E"/>
                </a:solidFill>
              </a:rPr>
              <a:t>Instruction fine-tuning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458968" y="406908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COCONUT-style curriculum: start with CoT data, progressively replace reasoning steps with concept tokens.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The goal is simple.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EEAD4"/>
                </a:solidFill>
              </a:rPr>
              <a:t>A transformer that reads files the way humans do —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5EEAD4"/>
                </a:solidFill>
              </a:rPr>
              <a:t>not token by token, but concept by concept.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286000" y="2926080"/>
            <a:ext cx="457200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No one has built this yet.  We are.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Concept-Level LM — Team Brief</dc:title>
  <dc:subject>PptxGenJS Presentation</dc:subject>
  <dc:creator>PptxGenJS</dc:creator>
  <cp:lastModifiedBy>PptxGenJS</cp:lastModifiedBy>
  <cp:revision>1</cp:revision>
  <dcterms:created xsi:type="dcterms:W3CDTF">2026-04-10T06:53:52Z</dcterms:created>
  <dcterms:modified xsi:type="dcterms:W3CDTF">2026-04-10T06:53:52Z</dcterms:modified>
</cp:coreProperties>
</file>