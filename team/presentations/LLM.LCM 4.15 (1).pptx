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</p:sldMasterIdLst>
  <p:notesMasterIdLst>
    <p:notesMasterId r:id="rId24"/>
  </p:notesMasterIdLst>
  <p:sldIdLst>
    <p:sldId id="284" r:id="rId3"/>
    <p:sldId id="369" r:id="rId4"/>
    <p:sldId id="383" r:id="rId5"/>
    <p:sldId id="372" r:id="rId6"/>
    <p:sldId id="370" r:id="rId7"/>
    <p:sldId id="388" r:id="rId8"/>
    <p:sldId id="373" r:id="rId9"/>
    <p:sldId id="382" r:id="rId10"/>
    <p:sldId id="374" r:id="rId11"/>
    <p:sldId id="389" r:id="rId12"/>
    <p:sldId id="390" r:id="rId13"/>
    <p:sldId id="392" r:id="rId14"/>
    <p:sldId id="393" r:id="rId15"/>
    <p:sldId id="394" r:id="rId16"/>
    <p:sldId id="384" r:id="rId17"/>
    <p:sldId id="385" r:id="rId18"/>
    <p:sldId id="386" r:id="rId19"/>
    <p:sldId id="387" r:id="rId20"/>
    <p:sldId id="379" r:id="rId21"/>
    <p:sldId id="279" r:id="rId22"/>
    <p:sldId id="39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FFDCA-4501-3248-830B-4CF4A35004C1}" v="665" dt="2026-04-15T21:46:35.003"/>
    <p1510:client id="{2FACB152-8990-2FA6-99CC-602F5C69C95F}" v="22" dt="2026-04-15T23:04:29.046"/>
    <p1510:client id="{6B0BDD56-557A-092B-807F-2EB5A4F316C4}" v="165" dt="2026-04-15T18:39:04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841A4B-72E8-2645-BB91-78A71BCEF9D3}" type="doc">
      <dgm:prSet loTypeId="urn:microsoft.com/office/officeart/2005/8/layout/b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E83329-9BA2-4641-9F26-B6C213463BF2}">
      <dgm:prSet phldrT="[Text]"/>
      <dgm:spPr/>
      <dgm:t>
        <a:bodyPr/>
        <a:lstStyle/>
        <a:p>
          <a:pPr>
            <a:buNone/>
          </a:pPr>
          <a:r>
            <a:rPr lang="en-US"/>
            <a:t>User enters a prompt</a:t>
          </a:r>
        </a:p>
      </dgm:t>
    </dgm:pt>
    <dgm:pt modelId="{ED9322A9-9242-2041-9C93-972C6D329B1A}" type="parTrans" cxnId="{29A7E228-D68D-5349-80A6-31FF4BF3326B}">
      <dgm:prSet/>
      <dgm:spPr/>
      <dgm:t>
        <a:bodyPr/>
        <a:lstStyle/>
        <a:p>
          <a:endParaRPr lang="en-US"/>
        </a:p>
      </dgm:t>
    </dgm:pt>
    <dgm:pt modelId="{E020D411-C47A-974E-8007-F6A0C4A32397}" type="sibTrans" cxnId="{29A7E228-D68D-5349-80A6-31FF4BF3326B}">
      <dgm:prSet/>
      <dgm:spPr/>
      <dgm:t>
        <a:bodyPr/>
        <a:lstStyle/>
        <a:p>
          <a:endParaRPr lang="en-US"/>
        </a:p>
      </dgm:t>
    </dgm:pt>
    <dgm:pt modelId="{8D645D55-166B-DF4D-8E48-F6BEBDB01034}">
      <dgm:prSet phldrT="[Text]"/>
      <dgm:spPr/>
      <dgm:t>
        <a:bodyPr/>
        <a:lstStyle/>
        <a:p>
          <a:pPr>
            <a:buNone/>
          </a:pPr>
          <a:r>
            <a:rPr lang="en-US"/>
            <a:t>Prompt is split into tokens and are converted to embeddings</a:t>
          </a:r>
        </a:p>
      </dgm:t>
    </dgm:pt>
    <dgm:pt modelId="{81518827-8229-2847-B7B6-0EFB16635C61}" type="parTrans" cxnId="{0A7C2F96-DBF6-3C42-B11A-A52882BA4F28}">
      <dgm:prSet/>
      <dgm:spPr/>
      <dgm:t>
        <a:bodyPr/>
        <a:lstStyle/>
        <a:p>
          <a:endParaRPr lang="en-US"/>
        </a:p>
      </dgm:t>
    </dgm:pt>
    <dgm:pt modelId="{6FB9B8F0-E2A4-6944-AB7E-93E70B3F158A}" type="sibTrans" cxnId="{0A7C2F96-DBF6-3C42-B11A-A52882BA4F28}">
      <dgm:prSet/>
      <dgm:spPr/>
      <dgm:t>
        <a:bodyPr/>
        <a:lstStyle/>
        <a:p>
          <a:endParaRPr lang="en-US"/>
        </a:p>
      </dgm:t>
    </dgm:pt>
    <dgm:pt modelId="{CC1F0D50-93E9-2F4F-970E-BE4EC6B14A12}">
      <dgm:prSet phldrT="[Text]"/>
      <dgm:spPr/>
      <dgm:t>
        <a:bodyPr/>
        <a:lstStyle/>
        <a:p>
          <a:pPr>
            <a:buNone/>
          </a:pPr>
          <a:r>
            <a:rPr lang="en-US"/>
            <a:t>Positional information is added</a:t>
          </a:r>
        </a:p>
      </dgm:t>
    </dgm:pt>
    <dgm:pt modelId="{B916A98E-AC0E-3249-BD91-529F51A6E526}" type="parTrans" cxnId="{8695A16F-659A-C243-B86F-9D6154D02240}">
      <dgm:prSet/>
      <dgm:spPr/>
      <dgm:t>
        <a:bodyPr/>
        <a:lstStyle/>
        <a:p>
          <a:endParaRPr lang="en-US"/>
        </a:p>
      </dgm:t>
    </dgm:pt>
    <dgm:pt modelId="{9583EC67-C30E-3E48-8831-1B21F09D1F83}" type="sibTrans" cxnId="{8695A16F-659A-C243-B86F-9D6154D02240}">
      <dgm:prSet/>
      <dgm:spPr/>
      <dgm:t>
        <a:bodyPr/>
        <a:lstStyle/>
        <a:p>
          <a:endParaRPr lang="en-US"/>
        </a:p>
      </dgm:t>
    </dgm:pt>
    <dgm:pt modelId="{15711CBF-129B-9440-ABEA-8980061B6799}">
      <dgm:prSet phldrT="[Text]"/>
      <dgm:spPr/>
      <dgm:t>
        <a:bodyPr/>
        <a:lstStyle/>
        <a:p>
          <a:pPr>
            <a:buNone/>
          </a:pPr>
          <a:r>
            <a:rPr lang="en-US"/>
            <a:t>Transformer layers process the sequence</a:t>
          </a:r>
        </a:p>
      </dgm:t>
    </dgm:pt>
    <dgm:pt modelId="{9EDA3708-A7C5-0A45-8AA4-5A2026B0838B}" type="parTrans" cxnId="{741A3956-EBD7-374E-9D30-ADBC3DDD2564}">
      <dgm:prSet/>
      <dgm:spPr/>
      <dgm:t>
        <a:bodyPr/>
        <a:lstStyle/>
        <a:p>
          <a:endParaRPr lang="en-US"/>
        </a:p>
      </dgm:t>
    </dgm:pt>
    <dgm:pt modelId="{D61F87C3-BB28-054E-9C5C-3FC1880281B3}" type="sibTrans" cxnId="{741A3956-EBD7-374E-9D30-ADBC3DDD2564}">
      <dgm:prSet/>
      <dgm:spPr/>
      <dgm:t>
        <a:bodyPr/>
        <a:lstStyle/>
        <a:p>
          <a:endParaRPr lang="en-US"/>
        </a:p>
      </dgm:t>
    </dgm:pt>
    <dgm:pt modelId="{AA276038-23F5-174F-99A9-756399AD503E}">
      <dgm:prSet phldrT="[Text]"/>
      <dgm:spPr/>
      <dgm:t>
        <a:bodyPr/>
        <a:lstStyle/>
        <a:p>
          <a:pPr>
            <a:buNone/>
          </a:pPr>
          <a:r>
            <a:rPr lang="en-US"/>
            <a:t>Attention finds important relationships</a:t>
          </a:r>
        </a:p>
      </dgm:t>
    </dgm:pt>
    <dgm:pt modelId="{46D400C1-E4D7-9F4F-B14C-1A20CE54A891}" type="parTrans" cxnId="{76A547F4-1134-5C49-AC88-A588FD5FDBDD}">
      <dgm:prSet/>
      <dgm:spPr/>
      <dgm:t>
        <a:bodyPr/>
        <a:lstStyle/>
        <a:p>
          <a:endParaRPr lang="en-US"/>
        </a:p>
      </dgm:t>
    </dgm:pt>
    <dgm:pt modelId="{C959E29F-4486-444D-9893-00165A1469CB}" type="sibTrans" cxnId="{76A547F4-1134-5C49-AC88-A588FD5FDBDD}">
      <dgm:prSet/>
      <dgm:spPr/>
      <dgm:t>
        <a:bodyPr/>
        <a:lstStyle/>
        <a:p>
          <a:endParaRPr lang="en-US"/>
        </a:p>
      </dgm:t>
    </dgm:pt>
    <dgm:pt modelId="{78ED1D6C-A72A-E945-9203-74893F68C7DB}">
      <dgm:prSet phldrT="[Text]"/>
      <dgm:spPr/>
      <dgm:t>
        <a:bodyPr/>
        <a:lstStyle/>
        <a:p>
          <a:pPr>
            <a:buNone/>
          </a:pPr>
          <a:r>
            <a:rPr lang="en-US"/>
            <a:t>Model predicts the next token</a:t>
          </a:r>
        </a:p>
      </dgm:t>
    </dgm:pt>
    <dgm:pt modelId="{D72C4C19-D51A-8541-86E0-DA87CEE2A492}" type="parTrans" cxnId="{CA285738-583D-F442-8DA5-A33DFFC8F074}">
      <dgm:prSet/>
      <dgm:spPr/>
      <dgm:t>
        <a:bodyPr/>
        <a:lstStyle/>
        <a:p>
          <a:endParaRPr lang="en-US"/>
        </a:p>
      </dgm:t>
    </dgm:pt>
    <dgm:pt modelId="{C9381129-9EE1-604F-AC47-0EE751F610F5}" type="sibTrans" cxnId="{CA285738-583D-F442-8DA5-A33DFFC8F074}">
      <dgm:prSet/>
      <dgm:spPr/>
      <dgm:t>
        <a:bodyPr/>
        <a:lstStyle/>
        <a:p>
          <a:endParaRPr lang="en-US"/>
        </a:p>
      </dgm:t>
    </dgm:pt>
    <dgm:pt modelId="{110DBAA8-24B0-8146-BAC4-5AD317A99BF8}">
      <dgm:prSet phldrT="[Text]"/>
      <dgm:spPr/>
      <dgm:t>
        <a:bodyPr/>
        <a:lstStyle/>
        <a:p>
          <a:pPr>
            <a:buNone/>
          </a:pPr>
          <a:r>
            <a:rPr lang="en-US"/>
            <a:t>One token is chosen</a:t>
          </a:r>
        </a:p>
      </dgm:t>
    </dgm:pt>
    <dgm:pt modelId="{74F0CCB9-86B7-3E48-A133-929DB003F94E}" type="parTrans" cxnId="{96A155AD-48A6-E24A-B5B4-E852EB26BD6C}">
      <dgm:prSet/>
      <dgm:spPr/>
      <dgm:t>
        <a:bodyPr/>
        <a:lstStyle/>
        <a:p>
          <a:endParaRPr lang="en-US"/>
        </a:p>
      </dgm:t>
    </dgm:pt>
    <dgm:pt modelId="{1CE90BC6-3EB3-2646-ACB6-CAB5A8842607}" type="sibTrans" cxnId="{96A155AD-48A6-E24A-B5B4-E852EB26BD6C}">
      <dgm:prSet/>
      <dgm:spPr/>
      <dgm:t>
        <a:bodyPr/>
        <a:lstStyle/>
        <a:p>
          <a:endParaRPr lang="en-US"/>
        </a:p>
      </dgm:t>
    </dgm:pt>
    <dgm:pt modelId="{424F4FE4-B3CB-0445-870E-994C464CAB09}">
      <dgm:prSet phldrT="[Text]"/>
      <dgm:spPr/>
      <dgm:t>
        <a:bodyPr/>
        <a:lstStyle/>
        <a:p>
          <a:pPr>
            <a:buNone/>
          </a:pPr>
          <a:r>
            <a:rPr lang="en-US"/>
            <a:t>Token is added to the response</a:t>
          </a:r>
        </a:p>
      </dgm:t>
    </dgm:pt>
    <dgm:pt modelId="{4F11836D-CC3E-B342-A0EE-3992E3E52E0C}" type="parTrans" cxnId="{3DEFABD9-1043-B243-81AA-270BC3F0FCAB}">
      <dgm:prSet/>
      <dgm:spPr/>
      <dgm:t>
        <a:bodyPr/>
        <a:lstStyle/>
        <a:p>
          <a:endParaRPr lang="en-US"/>
        </a:p>
      </dgm:t>
    </dgm:pt>
    <dgm:pt modelId="{28ED18ED-201C-374A-9CF7-F6613317CDA7}" type="sibTrans" cxnId="{3DEFABD9-1043-B243-81AA-270BC3F0FCAB}">
      <dgm:prSet/>
      <dgm:spPr/>
      <dgm:t>
        <a:bodyPr/>
        <a:lstStyle/>
        <a:p>
          <a:endParaRPr lang="en-US"/>
        </a:p>
      </dgm:t>
    </dgm:pt>
    <dgm:pt modelId="{6B4AC3CA-ABF3-7048-8465-3AB1199DE315}">
      <dgm:prSet phldrT="[Text]"/>
      <dgm:spPr/>
      <dgm:t>
        <a:bodyPr/>
        <a:lstStyle/>
        <a:p>
          <a:pPr>
            <a:buNone/>
          </a:pPr>
          <a:r>
            <a:rPr lang="en-US"/>
            <a:t>Process repeats until the answer is complete</a:t>
          </a:r>
        </a:p>
      </dgm:t>
    </dgm:pt>
    <dgm:pt modelId="{5977E342-E98E-8447-902E-B621EB404C70}" type="parTrans" cxnId="{508DB2F6-2313-6748-84DA-787C62D33C3A}">
      <dgm:prSet/>
      <dgm:spPr/>
      <dgm:t>
        <a:bodyPr/>
        <a:lstStyle/>
        <a:p>
          <a:endParaRPr lang="en-US"/>
        </a:p>
      </dgm:t>
    </dgm:pt>
    <dgm:pt modelId="{1369EA7D-5686-364D-8EB8-B78563D55D7B}" type="sibTrans" cxnId="{508DB2F6-2313-6748-84DA-787C62D33C3A}">
      <dgm:prSet/>
      <dgm:spPr/>
      <dgm:t>
        <a:bodyPr/>
        <a:lstStyle/>
        <a:p>
          <a:endParaRPr lang="en-US"/>
        </a:p>
      </dgm:t>
    </dgm:pt>
    <dgm:pt modelId="{4421A531-EF1A-7B41-B298-CCE6F9699F65}" type="pres">
      <dgm:prSet presAssocID="{FE841A4B-72E8-2645-BB91-78A71BCEF9D3}" presName="Name0" presStyleCnt="0">
        <dgm:presLayoutVars>
          <dgm:dir/>
          <dgm:resizeHandles/>
        </dgm:presLayoutVars>
      </dgm:prSet>
      <dgm:spPr/>
    </dgm:pt>
    <dgm:pt modelId="{56CA3C5D-D792-064E-B9A7-BDA9164C8A84}" type="pres">
      <dgm:prSet presAssocID="{F4E83329-9BA2-4641-9F26-B6C213463BF2}" presName="compNode" presStyleCnt="0"/>
      <dgm:spPr/>
    </dgm:pt>
    <dgm:pt modelId="{07D18AA9-9880-B547-9CFA-319D970D6660}" type="pres">
      <dgm:prSet presAssocID="{F4E83329-9BA2-4641-9F26-B6C213463BF2}" presName="dummyConnPt" presStyleCnt="0"/>
      <dgm:spPr/>
    </dgm:pt>
    <dgm:pt modelId="{BB0D2331-EBA7-CE47-BBCA-53632F2536CF}" type="pres">
      <dgm:prSet presAssocID="{F4E83329-9BA2-4641-9F26-B6C213463BF2}" presName="node" presStyleLbl="node1" presStyleIdx="0" presStyleCnt="9">
        <dgm:presLayoutVars>
          <dgm:bulletEnabled val="1"/>
        </dgm:presLayoutVars>
      </dgm:prSet>
      <dgm:spPr/>
    </dgm:pt>
    <dgm:pt modelId="{2E723D9F-FA3A-7B46-82A4-65C4F1D43891}" type="pres">
      <dgm:prSet presAssocID="{E020D411-C47A-974E-8007-F6A0C4A32397}" presName="sibTrans" presStyleLbl="bgSibTrans2D1" presStyleIdx="0" presStyleCnt="8"/>
      <dgm:spPr/>
    </dgm:pt>
    <dgm:pt modelId="{1A046E5C-0878-8641-B150-26491A215B26}" type="pres">
      <dgm:prSet presAssocID="{8D645D55-166B-DF4D-8E48-F6BEBDB01034}" presName="compNode" presStyleCnt="0"/>
      <dgm:spPr/>
    </dgm:pt>
    <dgm:pt modelId="{49679952-AC11-0E4F-9FAE-81A9C4A27CAA}" type="pres">
      <dgm:prSet presAssocID="{8D645D55-166B-DF4D-8E48-F6BEBDB01034}" presName="dummyConnPt" presStyleCnt="0"/>
      <dgm:spPr/>
    </dgm:pt>
    <dgm:pt modelId="{EB003CA4-F07E-AF4C-B6A7-016105F2C189}" type="pres">
      <dgm:prSet presAssocID="{8D645D55-166B-DF4D-8E48-F6BEBDB01034}" presName="node" presStyleLbl="node1" presStyleIdx="1" presStyleCnt="9">
        <dgm:presLayoutVars>
          <dgm:bulletEnabled val="1"/>
        </dgm:presLayoutVars>
      </dgm:prSet>
      <dgm:spPr/>
    </dgm:pt>
    <dgm:pt modelId="{1EED6BB4-4EA7-F64B-8494-CFCCA938ACAD}" type="pres">
      <dgm:prSet presAssocID="{6FB9B8F0-E2A4-6944-AB7E-93E70B3F158A}" presName="sibTrans" presStyleLbl="bgSibTrans2D1" presStyleIdx="1" presStyleCnt="8"/>
      <dgm:spPr/>
    </dgm:pt>
    <dgm:pt modelId="{2E6F927F-A538-2C4B-BC3C-C85947BC0F44}" type="pres">
      <dgm:prSet presAssocID="{CC1F0D50-93E9-2F4F-970E-BE4EC6B14A12}" presName="compNode" presStyleCnt="0"/>
      <dgm:spPr/>
    </dgm:pt>
    <dgm:pt modelId="{42828044-7FE3-3040-8CDB-5251E5DB960B}" type="pres">
      <dgm:prSet presAssocID="{CC1F0D50-93E9-2F4F-970E-BE4EC6B14A12}" presName="dummyConnPt" presStyleCnt="0"/>
      <dgm:spPr/>
    </dgm:pt>
    <dgm:pt modelId="{7DE9C81A-C384-7D44-97F2-A76A0ABAA3AF}" type="pres">
      <dgm:prSet presAssocID="{CC1F0D50-93E9-2F4F-970E-BE4EC6B14A12}" presName="node" presStyleLbl="node1" presStyleIdx="2" presStyleCnt="9">
        <dgm:presLayoutVars>
          <dgm:bulletEnabled val="1"/>
        </dgm:presLayoutVars>
      </dgm:prSet>
      <dgm:spPr/>
    </dgm:pt>
    <dgm:pt modelId="{8106C156-BA4E-6B46-91D5-6146FBF06793}" type="pres">
      <dgm:prSet presAssocID="{9583EC67-C30E-3E48-8831-1B21F09D1F83}" presName="sibTrans" presStyleLbl="bgSibTrans2D1" presStyleIdx="2" presStyleCnt="8"/>
      <dgm:spPr/>
    </dgm:pt>
    <dgm:pt modelId="{2F289A84-80E1-1642-A3E4-1C3F9CF770CE}" type="pres">
      <dgm:prSet presAssocID="{15711CBF-129B-9440-ABEA-8980061B6799}" presName="compNode" presStyleCnt="0"/>
      <dgm:spPr/>
    </dgm:pt>
    <dgm:pt modelId="{880F10B2-D073-914F-9B2F-92CF20A8A134}" type="pres">
      <dgm:prSet presAssocID="{15711CBF-129B-9440-ABEA-8980061B6799}" presName="dummyConnPt" presStyleCnt="0"/>
      <dgm:spPr/>
    </dgm:pt>
    <dgm:pt modelId="{1071BAE4-DE2B-4042-859E-6581FB574F74}" type="pres">
      <dgm:prSet presAssocID="{15711CBF-129B-9440-ABEA-8980061B6799}" presName="node" presStyleLbl="node1" presStyleIdx="3" presStyleCnt="9">
        <dgm:presLayoutVars>
          <dgm:bulletEnabled val="1"/>
        </dgm:presLayoutVars>
      </dgm:prSet>
      <dgm:spPr/>
    </dgm:pt>
    <dgm:pt modelId="{711B329E-C506-0A48-A9E7-0DFFF73DF951}" type="pres">
      <dgm:prSet presAssocID="{D61F87C3-BB28-054E-9C5C-3FC1880281B3}" presName="sibTrans" presStyleLbl="bgSibTrans2D1" presStyleIdx="3" presStyleCnt="8"/>
      <dgm:spPr/>
    </dgm:pt>
    <dgm:pt modelId="{CD07F971-9A90-0C4B-875F-086581865234}" type="pres">
      <dgm:prSet presAssocID="{AA276038-23F5-174F-99A9-756399AD503E}" presName="compNode" presStyleCnt="0"/>
      <dgm:spPr/>
    </dgm:pt>
    <dgm:pt modelId="{65AD858B-8FF2-B54B-AFAA-7F4F005F0CDA}" type="pres">
      <dgm:prSet presAssocID="{AA276038-23F5-174F-99A9-756399AD503E}" presName="dummyConnPt" presStyleCnt="0"/>
      <dgm:spPr/>
    </dgm:pt>
    <dgm:pt modelId="{4D754BF9-9EF9-AE42-A391-CD46EEA00D82}" type="pres">
      <dgm:prSet presAssocID="{AA276038-23F5-174F-99A9-756399AD503E}" presName="node" presStyleLbl="node1" presStyleIdx="4" presStyleCnt="9">
        <dgm:presLayoutVars>
          <dgm:bulletEnabled val="1"/>
        </dgm:presLayoutVars>
      </dgm:prSet>
      <dgm:spPr/>
    </dgm:pt>
    <dgm:pt modelId="{97D1AE9A-2D7A-7A43-A348-50B5C67E36F3}" type="pres">
      <dgm:prSet presAssocID="{C959E29F-4486-444D-9893-00165A1469CB}" presName="sibTrans" presStyleLbl="bgSibTrans2D1" presStyleIdx="4" presStyleCnt="8"/>
      <dgm:spPr/>
    </dgm:pt>
    <dgm:pt modelId="{7A0C637C-FEE9-974C-B84C-095E912CEE0E}" type="pres">
      <dgm:prSet presAssocID="{78ED1D6C-A72A-E945-9203-74893F68C7DB}" presName="compNode" presStyleCnt="0"/>
      <dgm:spPr/>
    </dgm:pt>
    <dgm:pt modelId="{8951F09E-2C35-8343-B298-4C6DC62DCD03}" type="pres">
      <dgm:prSet presAssocID="{78ED1D6C-A72A-E945-9203-74893F68C7DB}" presName="dummyConnPt" presStyleCnt="0"/>
      <dgm:spPr/>
    </dgm:pt>
    <dgm:pt modelId="{4340ED80-F26C-0142-83AB-544983973B16}" type="pres">
      <dgm:prSet presAssocID="{78ED1D6C-A72A-E945-9203-74893F68C7DB}" presName="node" presStyleLbl="node1" presStyleIdx="5" presStyleCnt="9">
        <dgm:presLayoutVars>
          <dgm:bulletEnabled val="1"/>
        </dgm:presLayoutVars>
      </dgm:prSet>
      <dgm:spPr/>
    </dgm:pt>
    <dgm:pt modelId="{672960BF-BD32-E541-81EF-365D2B380A5F}" type="pres">
      <dgm:prSet presAssocID="{C9381129-9EE1-604F-AC47-0EE751F610F5}" presName="sibTrans" presStyleLbl="bgSibTrans2D1" presStyleIdx="5" presStyleCnt="8"/>
      <dgm:spPr/>
    </dgm:pt>
    <dgm:pt modelId="{0442AC6C-2F29-674F-A594-F46716BC4DDF}" type="pres">
      <dgm:prSet presAssocID="{110DBAA8-24B0-8146-BAC4-5AD317A99BF8}" presName="compNode" presStyleCnt="0"/>
      <dgm:spPr/>
    </dgm:pt>
    <dgm:pt modelId="{F2FD61F4-876B-2749-85F5-9F1C0E4343F6}" type="pres">
      <dgm:prSet presAssocID="{110DBAA8-24B0-8146-BAC4-5AD317A99BF8}" presName="dummyConnPt" presStyleCnt="0"/>
      <dgm:spPr/>
    </dgm:pt>
    <dgm:pt modelId="{54EDA913-C8DC-0B44-9964-ECD63F8F3A91}" type="pres">
      <dgm:prSet presAssocID="{110DBAA8-24B0-8146-BAC4-5AD317A99BF8}" presName="node" presStyleLbl="node1" presStyleIdx="6" presStyleCnt="9">
        <dgm:presLayoutVars>
          <dgm:bulletEnabled val="1"/>
        </dgm:presLayoutVars>
      </dgm:prSet>
      <dgm:spPr/>
    </dgm:pt>
    <dgm:pt modelId="{FEC1607B-6045-194A-B1E3-718F1C932123}" type="pres">
      <dgm:prSet presAssocID="{1CE90BC6-3EB3-2646-ACB6-CAB5A8842607}" presName="sibTrans" presStyleLbl="bgSibTrans2D1" presStyleIdx="6" presStyleCnt="8"/>
      <dgm:spPr/>
    </dgm:pt>
    <dgm:pt modelId="{8623F7BE-DA66-3644-BE36-0EC0E8A66C80}" type="pres">
      <dgm:prSet presAssocID="{424F4FE4-B3CB-0445-870E-994C464CAB09}" presName="compNode" presStyleCnt="0"/>
      <dgm:spPr/>
    </dgm:pt>
    <dgm:pt modelId="{61E3D9C3-9C46-EF4A-86BE-8C7DB1749255}" type="pres">
      <dgm:prSet presAssocID="{424F4FE4-B3CB-0445-870E-994C464CAB09}" presName="dummyConnPt" presStyleCnt="0"/>
      <dgm:spPr/>
    </dgm:pt>
    <dgm:pt modelId="{B980DE8F-99C3-B34E-8FBD-A9F734FDE5BE}" type="pres">
      <dgm:prSet presAssocID="{424F4FE4-B3CB-0445-870E-994C464CAB09}" presName="node" presStyleLbl="node1" presStyleIdx="7" presStyleCnt="9">
        <dgm:presLayoutVars>
          <dgm:bulletEnabled val="1"/>
        </dgm:presLayoutVars>
      </dgm:prSet>
      <dgm:spPr/>
    </dgm:pt>
    <dgm:pt modelId="{C020DFE1-60C6-3B43-95A2-D233DCE05DF3}" type="pres">
      <dgm:prSet presAssocID="{28ED18ED-201C-374A-9CF7-F6613317CDA7}" presName="sibTrans" presStyleLbl="bgSibTrans2D1" presStyleIdx="7" presStyleCnt="8"/>
      <dgm:spPr/>
    </dgm:pt>
    <dgm:pt modelId="{F73790B7-4CAD-5545-99AB-D92A3274844E}" type="pres">
      <dgm:prSet presAssocID="{6B4AC3CA-ABF3-7048-8465-3AB1199DE315}" presName="compNode" presStyleCnt="0"/>
      <dgm:spPr/>
    </dgm:pt>
    <dgm:pt modelId="{D9567660-ADF1-3E43-8DC0-A0B9A6F6D635}" type="pres">
      <dgm:prSet presAssocID="{6B4AC3CA-ABF3-7048-8465-3AB1199DE315}" presName="dummyConnPt" presStyleCnt="0"/>
      <dgm:spPr/>
    </dgm:pt>
    <dgm:pt modelId="{46007B54-1D26-F346-965F-CAF57512171E}" type="pres">
      <dgm:prSet presAssocID="{6B4AC3CA-ABF3-7048-8465-3AB1199DE315}" presName="node" presStyleLbl="node1" presStyleIdx="8" presStyleCnt="9">
        <dgm:presLayoutVars>
          <dgm:bulletEnabled val="1"/>
        </dgm:presLayoutVars>
      </dgm:prSet>
      <dgm:spPr/>
    </dgm:pt>
  </dgm:ptLst>
  <dgm:cxnLst>
    <dgm:cxn modelId="{29A7E228-D68D-5349-80A6-31FF4BF3326B}" srcId="{FE841A4B-72E8-2645-BB91-78A71BCEF9D3}" destId="{F4E83329-9BA2-4641-9F26-B6C213463BF2}" srcOrd="0" destOrd="0" parTransId="{ED9322A9-9242-2041-9C93-972C6D329B1A}" sibTransId="{E020D411-C47A-974E-8007-F6A0C4A32397}"/>
    <dgm:cxn modelId="{CA285738-583D-F442-8DA5-A33DFFC8F074}" srcId="{FE841A4B-72E8-2645-BB91-78A71BCEF9D3}" destId="{78ED1D6C-A72A-E945-9203-74893F68C7DB}" srcOrd="5" destOrd="0" parTransId="{D72C4C19-D51A-8541-86E0-DA87CEE2A492}" sibTransId="{C9381129-9EE1-604F-AC47-0EE751F610F5}"/>
    <dgm:cxn modelId="{12FEE73F-7DFA-F449-8F21-5FE54F967069}" type="presOf" srcId="{28ED18ED-201C-374A-9CF7-F6613317CDA7}" destId="{C020DFE1-60C6-3B43-95A2-D233DCE05DF3}" srcOrd="0" destOrd="0" presId="urn:microsoft.com/office/officeart/2005/8/layout/bProcess4"/>
    <dgm:cxn modelId="{BCEE2B49-4D68-1945-9CB7-E2F2DF735913}" type="presOf" srcId="{C959E29F-4486-444D-9893-00165A1469CB}" destId="{97D1AE9A-2D7A-7A43-A348-50B5C67E36F3}" srcOrd="0" destOrd="0" presId="urn:microsoft.com/office/officeart/2005/8/layout/bProcess4"/>
    <dgm:cxn modelId="{56BEB34C-DA1E-6B46-B262-3051F279B4E9}" type="presOf" srcId="{8D645D55-166B-DF4D-8E48-F6BEBDB01034}" destId="{EB003CA4-F07E-AF4C-B6A7-016105F2C189}" srcOrd="0" destOrd="0" presId="urn:microsoft.com/office/officeart/2005/8/layout/bProcess4"/>
    <dgm:cxn modelId="{8F51064E-9779-2B44-A0A9-43087E0AD692}" type="presOf" srcId="{D61F87C3-BB28-054E-9C5C-3FC1880281B3}" destId="{711B329E-C506-0A48-A9E7-0DFFF73DF951}" srcOrd="0" destOrd="0" presId="urn:microsoft.com/office/officeart/2005/8/layout/bProcess4"/>
    <dgm:cxn modelId="{AC28474F-51A7-4648-8BCC-D772851FEE03}" type="presOf" srcId="{AA276038-23F5-174F-99A9-756399AD503E}" destId="{4D754BF9-9EF9-AE42-A391-CD46EEA00D82}" srcOrd="0" destOrd="0" presId="urn:microsoft.com/office/officeart/2005/8/layout/bProcess4"/>
    <dgm:cxn modelId="{8695A16F-659A-C243-B86F-9D6154D02240}" srcId="{FE841A4B-72E8-2645-BB91-78A71BCEF9D3}" destId="{CC1F0D50-93E9-2F4F-970E-BE4EC6B14A12}" srcOrd="2" destOrd="0" parTransId="{B916A98E-AC0E-3249-BD91-529F51A6E526}" sibTransId="{9583EC67-C30E-3E48-8831-1B21F09D1F83}"/>
    <dgm:cxn modelId="{9F65CA54-D3F6-3944-8A89-A78C7DE46E0F}" type="presOf" srcId="{110DBAA8-24B0-8146-BAC4-5AD317A99BF8}" destId="{54EDA913-C8DC-0B44-9964-ECD63F8F3A91}" srcOrd="0" destOrd="0" presId="urn:microsoft.com/office/officeart/2005/8/layout/bProcess4"/>
    <dgm:cxn modelId="{741A3956-EBD7-374E-9D30-ADBC3DDD2564}" srcId="{FE841A4B-72E8-2645-BB91-78A71BCEF9D3}" destId="{15711CBF-129B-9440-ABEA-8980061B6799}" srcOrd="3" destOrd="0" parTransId="{9EDA3708-A7C5-0A45-8AA4-5A2026B0838B}" sibTransId="{D61F87C3-BB28-054E-9C5C-3FC1880281B3}"/>
    <dgm:cxn modelId="{74679D77-3C48-DD45-8A7D-997C64AB1EB7}" type="presOf" srcId="{6FB9B8F0-E2A4-6944-AB7E-93E70B3F158A}" destId="{1EED6BB4-4EA7-F64B-8494-CFCCA938ACAD}" srcOrd="0" destOrd="0" presId="urn:microsoft.com/office/officeart/2005/8/layout/bProcess4"/>
    <dgm:cxn modelId="{373AB889-8F6A-2B47-94AE-89AA29BD67FF}" type="presOf" srcId="{C9381129-9EE1-604F-AC47-0EE751F610F5}" destId="{672960BF-BD32-E541-81EF-365D2B380A5F}" srcOrd="0" destOrd="0" presId="urn:microsoft.com/office/officeart/2005/8/layout/bProcess4"/>
    <dgm:cxn modelId="{319C308D-CBC9-8045-8346-BDD49A6D7967}" type="presOf" srcId="{78ED1D6C-A72A-E945-9203-74893F68C7DB}" destId="{4340ED80-F26C-0142-83AB-544983973B16}" srcOrd="0" destOrd="0" presId="urn:microsoft.com/office/officeart/2005/8/layout/bProcess4"/>
    <dgm:cxn modelId="{0A7C2F96-DBF6-3C42-B11A-A52882BA4F28}" srcId="{FE841A4B-72E8-2645-BB91-78A71BCEF9D3}" destId="{8D645D55-166B-DF4D-8E48-F6BEBDB01034}" srcOrd="1" destOrd="0" parTransId="{81518827-8229-2847-B7B6-0EFB16635C61}" sibTransId="{6FB9B8F0-E2A4-6944-AB7E-93E70B3F158A}"/>
    <dgm:cxn modelId="{25554E97-4D5A-0840-B0F6-F82C4024874B}" type="presOf" srcId="{CC1F0D50-93E9-2F4F-970E-BE4EC6B14A12}" destId="{7DE9C81A-C384-7D44-97F2-A76A0ABAA3AF}" srcOrd="0" destOrd="0" presId="urn:microsoft.com/office/officeart/2005/8/layout/bProcess4"/>
    <dgm:cxn modelId="{96A155AD-48A6-E24A-B5B4-E852EB26BD6C}" srcId="{FE841A4B-72E8-2645-BB91-78A71BCEF9D3}" destId="{110DBAA8-24B0-8146-BAC4-5AD317A99BF8}" srcOrd="6" destOrd="0" parTransId="{74F0CCB9-86B7-3E48-A133-929DB003F94E}" sibTransId="{1CE90BC6-3EB3-2646-ACB6-CAB5A8842607}"/>
    <dgm:cxn modelId="{989ADCAE-3F16-DD41-9405-DCCF0339B813}" type="presOf" srcId="{E020D411-C47A-974E-8007-F6A0C4A32397}" destId="{2E723D9F-FA3A-7B46-82A4-65C4F1D43891}" srcOrd="0" destOrd="0" presId="urn:microsoft.com/office/officeart/2005/8/layout/bProcess4"/>
    <dgm:cxn modelId="{4826F8B5-7C33-074C-9406-1C40D80F7C5A}" type="presOf" srcId="{424F4FE4-B3CB-0445-870E-994C464CAB09}" destId="{B980DE8F-99C3-B34E-8FBD-A9F734FDE5BE}" srcOrd="0" destOrd="0" presId="urn:microsoft.com/office/officeart/2005/8/layout/bProcess4"/>
    <dgm:cxn modelId="{6CB966B6-68D8-9644-B8FE-B068B17ABEB4}" type="presOf" srcId="{9583EC67-C30E-3E48-8831-1B21F09D1F83}" destId="{8106C156-BA4E-6B46-91D5-6146FBF06793}" srcOrd="0" destOrd="0" presId="urn:microsoft.com/office/officeart/2005/8/layout/bProcess4"/>
    <dgm:cxn modelId="{827C7DC1-AD2C-DC4A-BD92-FBCC57814652}" type="presOf" srcId="{FE841A4B-72E8-2645-BB91-78A71BCEF9D3}" destId="{4421A531-EF1A-7B41-B298-CCE6F9699F65}" srcOrd="0" destOrd="0" presId="urn:microsoft.com/office/officeart/2005/8/layout/bProcess4"/>
    <dgm:cxn modelId="{C15D86D8-499E-3A4C-BF0A-E70C114AEF60}" type="presOf" srcId="{1CE90BC6-3EB3-2646-ACB6-CAB5A8842607}" destId="{FEC1607B-6045-194A-B1E3-718F1C932123}" srcOrd="0" destOrd="0" presId="urn:microsoft.com/office/officeart/2005/8/layout/bProcess4"/>
    <dgm:cxn modelId="{3DEFABD9-1043-B243-81AA-270BC3F0FCAB}" srcId="{FE841A4B-72E8-2645-BB91-78A71BCEF9D3}" destId="{424F4FE4-B3CB-0445-870E-994C464CAB09}" srcOrd="7" destOrd="0" parTransId="{4F11836D-CC3E-B342-A0EE-3992E3E52E0C}" sibTransId="{28ED18ED-201C-374A-9CF7-F6613317CDA7}"/>
    <dgm:cxn modelId="{99BB09DD-0CC9-EA41-B164-3D20C7728FBF}" type="presOf" srcId="{15711CBF-129B-9440-ABEA-8980061B6799}" destId="{1071BAE4-DE2B-4042-859E-6581FB574F74}" srcOrd="0" destOrd="0" presId="urn:microsoft.com/office/officeart/2005/8/layout/bProcess4"/>
    <dgm:cxn modelId="{2CC171DF-C40F-024F-A291-2FDD16EC3969}" type="presOf" srcId="{6B4AC3CA-ABF3-7048-8465-3AB1199DE315}" destId="{46007B54-1D26-F346-965F-CAF57512171E}" srcOrd="0" destOrd="0" presId="urn:microsoft.com/office/officeart/2005/8/layout/bProcess4"/>
    <dgm:cxn modelId="{39863DF4-A6F4-1F4D-950F-D5AF017F3745}" type="presOf" srcId="{F4E83329-9BA2-4641-9F26-B6C213463BF2}" destId="{BB0D2331-EBA7-CE47-BBCA-53632F2536CF}" srcOrd="0" destOrd="0" presId="urn:microsoft.com/office/officeart/2005/8/layout/bProcess4"/>
    <dgm:cxn modelId="{76A547F4-1134-5C49-AC88-A588FD5FDBDD}" srcId="{FE841A4B-72E8-2645-BB91-78A71BCEF9D3}" destId="{AA276038-23F5-174F-99A9-756399AD503E}" srcOrd="4" destOrd="0" parTransId="{46D400C1-E4D7-9F4F-B14C-1A20CE54A891}" sibTransId="{C959E29F-4486-444D-9893-00165A1469CB}"/>
    <dgm:cxn modelId="{508DB2F6-2313-6748-84DA-787C62D33C3A}" srcId="{FE841A4B-72E8-2645-BB91-78A71BCEF9D3}" destId="{6B4AC3CA-ABF3-7048-8465-3AB1199DE315}" srcOrd="8" destOrd="0" parTransId="{5977E342-E98E-8447-902E-B621EB404C70}" sibTransId="{1369EA7D-5686-364D-8EB8-B78563D55D7B}"/>
    <dgm:cxn modelId="{2CDBB41D-9A65-7846-BFA4-4B980666CF92}" type="presParOf" srcId="{4421A531-EF1A-7B41-B298-CCE6F9699F65}" destId="{56CA3C5D-D792-064E-B9A7-BDA9164C8A84}" srcOrd="0" destOrd="0" presId="urn:microsoft.com/office/officeart/2005/8/layout/bProcess4"/>
    <dgm:cxn modelId="{F53AB0F4-6808-514C-9000-9F41F95530BB}" type="presParOf" srcId="{56CA3C5D-D792-064E-B9A7-BDA9164C8A84}" destId="{07D18AA9-9880-B547-9CFA-319D970D6660}" srcOrd="0" destOrd="0" presId="urn:microsoft.com/office/officeart/2005/8/layout/bProcess4"/>
    <dgm:cxn modelId="{C9766394-1427-3B49-85A5-47252C26364A}" type="presParOf" srcId="{56CA3C5D-D792-064E-B9A7-BDA9164C8A84}" destId="{BB0D2331-EBA7-CE47-BBCA-53632F2536CF}" srcOrd="1" destOrd="0" presId="urn:microsoft.com/office/officeart/2005/8/layout/bProcess4"/>
    <dgm:cxn modelId="{1C17D2D2-EB0D-BB45-8E6C-187A45A4493D}" type="presParOf" srcId="{4421A531-EF1A-7B41-B298-CCE6F9699F65}" destId="{2E723D9F-FA3A-7B46-82A4-65C4F1D43891}" srcOrd="1" destOrd="0" presId="urn:microsoft.com/office/officeart/2005/8/layout/bProcess4"/>
    <dgm:cxn modelId="{74ED999D-5F64-5449-9639-51F9F6DD55D2}" type="presParOf" srcId="{4421A531-EF1A-7B41-B298-CCE6F9699F65}" destId="{1A046E5C-0878-8641-B150-26491A215B26}" srcOrd="2" destOrd="0" presId="urn:microsoft.com/office/officeart/2005/8/layout/bProcess4"/>
    <dgm:cxn modelId="{3A8F8A65-E8FB-E245-8500-EB5BC3B98AB6}" type="presParOf" srcId="{1A046E5C-0878-8641-B150-26491A215B26}" destId="{49679952-AC11-0E4F-9FAE-81A9C4A27CAA}" srcOrd="0" destOrd="0" presId="urn:microsoft.com/office/officeart/2005/8/layout/bProcess4"/>
    <dgm:cxn modelId="{914A4928-47E9-4645-A92E-8C1C660E2D6F}" type="presParOf" srcId="{1A046E5C-0878-8641-B150-26491A215B26}" destId="{EB003CA4-F07E-AF4C-B6A7-016105F2C189}" srcOrd="1" destOrd="0" presId="urn:microsoft.com/office/officeart/2005/8/layout/bProcess4"/>
    <dgm:cxn modelId="{27568C50-6EED-EC4A-AB2A-656E9E0AFC98}" type="presParOf" srcId="{4421A531-EF1A-7B41-B298-CCE6F9699F65}" destId="{1EED6BB4-4EA7-F64B-8494-CFCCA938ACAD}" srcOrd="3" destOrd="0" presId="urn:microsoft.com/office/officeart/2005/8/layout/bProcess4"/>
    <dgm:cxn modelId="{8370EC32-9576-214A-AA94-3B15F97163CC}" type="presParOf" srcId="{4421A531-EF1A-7B41-B298-CCE6F9699F65}" destId="{2E6F927F-A538-2C4B-BC3C-C85947BC0F44}" srcOrd="4" destOrd="0" presId="urn:microsoft.com/office/officeart/2005/8/layout/bProcess4"/>
    <dgm:cxn modelId="{5217BBD4-C6F4-E444-9C0A-7BFB1A0D16E0}" type="presParOf" srcId="{2E6F927F-A538-2C4B-BC3C-C85947BC0F44}" destId="{42828044-7FE3-3040-8CDB-5251E5DB960B}" srcOrd="0" destOrd="0" presId="urn:microsoft.com/office/officeart/2005/8/layout/bProcess4"/>
    <dgm:cxn modelId="{7E10A83C-0B8B-274F-BDA5-6F00C9E3E8A8}" type="presParOf" srcId="{2E6F927F-A538-2C4B-BC3C-C85947BC0F44}" destId="{7DE9C81A-C384-7D44-97F2-A76A0ABAA3AF}" srcOrd="1" destOrd="0" presId="urn:microsoft.com/office/officeart/2005/8/layout/bProcess4"/>
    <dgm:cxn modelId="{CEAB6912-6CCD-C340-9521-12D196E9561D}" type="presParOf" srcId="{4421A531-EF1A-7B41-B298-CCE6F9699F65}" destId="{8106C156-BA4E-6B46-91D5-6146FBF06793}" srcOrd="5" destOrd="0" presId="urn:microsoft.com/office/officeart/2005/8/layout/bProcess4"/>
    <dgm:cxn modelId="{C8F802C6-5FB4-2A45-A32F-5CD8E12709AC}" type="presParOf" srcId="{4421A531-EF1A-7B41-B298-CCE6F9699F65}" destId="{2F289A84-80E1-1642-A3E4-1C3F9CF770CE}" srcOrd="6" destOrd="0" presId="urn:microsoft.com/office/officeart/2005/8/layout/bProcess4"/>
    <dgm:cxn modelId="{4C8F4019-65E9-2846-8EEA-EC114AEFADB5}" type="presParOf" srcId="{2F289A84-80E1-1642-A3E4-1C3F9CF770CE}" destId="{880F10B2-D073-914F-9B2F-92CF20A8A134}" srcOrd="0" destOrd="0" presId="urn:microsoft.com/office/officeart/2005/8/layout/bProcess4"/>
    <dgm:cxn modelId="{086E0D98-E182-124C-833C-0C3F428F4CCC}" type="presParOf" srcId="{2F289A84-80E1-1642-A3E4-1C3F9CF770CE}" destId="{1071BAE4-DE2B-4042-859E-6581FB574F74}" srcOrd="1" destOrd="0" presId="urn:microsoft.com/office/officeart/2005/8/layout/bProcess4"/>
    <dgm:cxn modelId="{89547117-2C96-824C-A0E1-C63D7C8BD09F}" type="presParOf" srcId="{4421A531-EF1A-7B41-B298-CCE6F9699F65}" destId="{711B329E-C506-0A48-A9E7-0DFFF73DF951}" srcOrd="7" destOrd="0" presId="urn:microsoft.com/office/officeart/2005/8/layout/bProcess4"/>
    <dgm:cxn modelId="{E0196D0F-F435-AA41-B432-45DDF58743D6}" type="presParOf" srcId="{4421A531-EF1A-7B41-B298-CCE6F9699F65}" destId="{CD07F971-9A90-0C4B-875F-086581865234}" srcOrd="8" destOrd="0" presId="urn:microsoft.com/office/officeart/2005/8/layout/bProcess4"/>
    <dgm:cxn modelId="{F3B4AC2B-BCB9-A543-A3E0-F8FBC531F537}" type="presParOf" srcId="{CD07F971-9A90-0C4B-875F-086581865234}" destId="{65AD858B-8FF2-B54B-AFAA-7F4F005F0CDA}" srcOrd="0" destOrd="0" presId="urn:microsoft.com/office/officeart/2005/8/layout/bProcess4"/>
    <dgm:cxn modelId="{68275EF9-568B-6B44-BD31-C9F2FB495F9C}" type="presParOf" srcId="{CD07F971-9A90-0C4B-875F-086581865234}" destId="{4D754BF9-9EF9-AE42-A391-CD46EEA00D82}" srcOrd="1" destOrd="0" presId="urn:microsoft.com/office/officeart/2005/8/layout/bProcess4"/>
    <dgm:cxn modelId="{AC1265BF-B0F9-7D42-8D1B-31C0C3CC95DF}" type="presParOf" srcId="{4421A531-EF1A-7B41-B298-CCE6F9699F65}" destId="{97D1AE9A-2D7A-7A43-A348-50B5C67E36F3}" srcOrd="9" destOrd="0" presId="urn:microsoft.com/office/officeart/2005/8/layout/bProcess4"/>
    <dgm:cxn modelId="{18D7F8B0-7863-1741-B2AF-CF5BA66584A9}" type="presParOf" srcId="{4421A531-EF1A-7B41-B298-CCE6F9699F65}" destId="{7A0C637C-FEE9-974C-B84C-095E912CEE0E}" srcOrd="10" destOrd="0" presId="urn:microsoft.com/office/officeart/2005/8/layout/bProcess4"/>
    <dgm:cxn modelId="{18D685AC-E0D5-C74E-A9B2-74321BA59470}" type="presParOf" srcId="{7A0C637C-FEE9-974C-B84C-095E912CEE0E}" destId="{8951F09E-2C35-8343-B298-4C6DC62DCD03}" srcOrd="0" destOrd="0" presId="urn:microsoft.com/office/officeart/2005/8/layout/bProcess4"/>
    <dgm:cxn modelId="{7C8591CB-FBD8-7E48-86CF-994C3AE547ED}" type="presParOf" srcId="{7A0C637C-FEE9-974C-B84C-095E912CEE0E}" destId="{4340ED80-F26C-0142-83AB-544983973B16}" srcOrd="1" destOrd="0" presId="urn:microsoft.com/office/officeart/2005/8/layout/bProcess4"/>
    <dgm:cxn modelId="{90BB59DF-2B70-4B4D-A617-5651CEBD0B2B}" type="presParOf" srcId="{4421A531-EF1A-7B41-B298-CCE6F9699F65}" destId="{672960BF-BD32-E541-81EF-365D2B380A5F}" srcOrd="11" destOrd="0" presId="urn:microsoft.com/office/officeart/2005/8/layout/bProcess4"/>
    <dgm:cxn modelId="{C5073C7B-E085-4342-9A49-AC3713CA24BE}" type="presParOf" srcId="{4421A531-EF1A-7B41-B298-CCE6F9699F65}" destId="{0442AC6C-2F29-674F-A594-F46716BC4DDF}" srcOrd="12" destOrd="0" presId="urn:microsoft.com/office/officeart/2005/8/layout/bProcess4"/>
    <dgm:cxn modelId="{62979EDC-1C85-8149-9491-FBD05E69A1A1}" type="presParOf" srcId="{0442AC6C-2F29-674F-A594-F46716BC4DDF}" destId="{F2FD61F4-876B-2749-85F5-9F1C0E4343F6}" srcOrd="0" destOrd="0" presId="urn:microsoft.com/office/officeart/2005/8/layout/bProcess4"/>
    <dgm:cxn modelId="{05F1C009-F7C1-9E48-BC8D-DBE04F543893}" type="presParOf" srcId="{0442AC6C-2F29-674F-A594-F46716BC4DDF}" destId="{54EDA913-C8DC-0B44-9964-ECD63F8F3A91}" srcOrd="1" destOrd="0" presId="urn:microsoft.com/office/officeart/2005/8/layout/bProcess4"/>
    <dgm:cxn modelId="{F9D0D86E-9A79-D04A-96E1-7112C268CF0F}" type="presParOf" srcId="{4421A531-EF1A-7B41-B298-CCE6F9699F65}" destId="{FEC1607B-6045-194A-B1E3-718F1C932123}" srcOrd="13" destOrd="0" presId="urn:microsoft.com/office/officeart/2005/8/layout/bProcess4"/>
    <dgm:cxn modelId="{2AE61828-FB65-7A4A-9D03-9EC21D78EEFA}" type="presParOf" srcId="{4421A531-EF1A-7B41-B298-CCE6F9699F65}" destId="{8623F7BE-DA66-3644-BE36-0EC0E8A66C80}" srcOrd="14" destOrd="0" presId="urn:microsoft.com/office/officeart/2005/8/layout/bProcess4"/>
    <dgm:cxn modelId="{F63BBB7B-8BB2-9740-9D9C-BE837C164B29}" type="presParOf" srcId="{8623F7BE-DA66-3644-BE36-0EC0E8A66C80}" destId="{61E3D9C3-9C46-EF4A-86BE-8C7DB1749255}" srcOrd="0" destOrd="0" presId="urn:microsoft.com/office/officeart/2005/8/layout/bProcess4"/>
    <dgm:cxn modelId="{78872369-F48E-9243-98D4-507E1810A540}" type="presParOf" srcId="{8623F7BE-DA66-3644-BE36-0EC0E8A66C80}" destId="{B980DE8F-99C3-B34E-8FBD-A9F734FDE5BE}" srcOrd="1" destOrd="0" presId="urn:microsoft.com/office/officeart/2005/8/layout/bProcess4"/>
    <dgm:cxn modelId="{1426A0AA-2B8C-6948-979D-F7A11EABF949}" type="presParOf" srcId="{4421A531-EF1A-7B41-B298-CCE6F9699F65}" destId="{C020DFE1-60C6-3B43-95A2-D233DCE05DF3}" srcOrd="15" destOrd="0" presId="urn:microsoft.com/office/officeart/2005/8/layout/bProcess4"/>
    <dgm:cxn modelId="{69A5C612-CCA0-1D42-AA11-BC935A52616C}" type="presParOf" srcId="{4421A531-EF1A-7B41-B298-CCE6F9699F65}" destId="{F73790B7-4CAD-5545-99AB-D92A3274844E}" srcOrd="16" destOrd="0" presId="urn:microsoft.com/office/officeart/2005/8/layout/bProcess4"/>
    <dgm:cxn modelId="{C253E4E9-FCD3-164C-9B24-95F3A5F1B469}" type="presParOf" srcId="{F73790B7-4CAD-5545-99AB-D92A3274844E}" destId="{D9567660-ADF1-3E43-8DC0-A0B9A6F6D635}" srcOrd="0" destOrd="0" presId="urn:microsoft.com/office/officeart/2005/8/layout/bProcess4"/>
    <dgm:cxn modelId="{2181B0AA-302E-0B49-8A74-289AFBD457F3}" type="presParOf" srcId="{F73790B7-4CAD-5545-99AB-D92A3274844E}" destId="{46007B54-1D26-F346-965F-CAF57512171E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23D9F-FA3A-7B46-82A4-65C4F1D43891}">
      <dsp:nvSpPr>
        <dsp:cNvPr id="0" name=""/>
        <dsp:cNvSpPr/>
      </dsp:nvSpPr>
      <dsp:spPr>
        <a:xfrm rot="5400000">
          <a:off x="-361371" y="1062252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D2331-EBA7-CE47-BBCA-53632F2536CF}">
      <dsp:nvSpPr>
        <dsp:cNvPr id="0" name=""/>
        <dsp:cNvSpPr/>
      </dsp:nvSpPr>
      <dsp:spPr>
        <a:xfrm>
          <a:off x="3949" y="39080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User enters a prompt</a:t>
          </a:r>
        </a:p>
      </dsp:txBody>
      <dsp:txXfrm>
        <a:off x="41621" y="76752"/>
        <a:ext cx="2068359" cy="1210877"/>
      </dsp:txXfrm>
    </dsp:sp>
    <dsp:sp modelId="{1EED6BB4-4EA7-F64B-8494-CFCCA938ACAD}">
      <dsp:nvSpPr>
        <dsp:cNvPr id="0" name=""/>
        <dsp:cNvSpPr/>
      </dsp:nvSpPr>
      <dsp:spPr>
        <a:xfrm rot="5400000">
          <a:off x="-361371" y="2670029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03CA4-F07E-AF4C-B6A7-016105F2C189}">
      <dsp:nvSpPr>
        <dsp:cNvPr id="0" name=""/>
        <dsp:cNvSpPr/>
      </dsp:nvSpPr>
      <dsp:spPr>
        <a:xfrm>
          <a:off x="3949" y="1646857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Prompt is split into tokens and are converted to embeddings</a:t>
          </a:r>
        </a:p>
      </dsp:txBody>
      <dsp:txXfrm>
        <a:off x="41621" y="1684529"/>
        <a:ext cx="2068359" cy="1210877"/>
      </dsp:txXfrm>
    </dsp:sp>
    <dsp:sp modelId="{8106C156-BA4E-6B46-91D5-6146FBF06793}">
      <dsp:nvSpPr>
        <dsp:cNvPr id="0" name=""/>
        <dsp:cNvSpPr/>
      </dsp:nvSpPr>
      <dsp:spPr>
        <a:xfrm>
          <a:off x="442516" y="3473918"/>
          <a:ext cx="2841299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9C81A-C384-7D44-97F2-A76A0ABAA3AF}">
      <dsp:nvSpPr>
        <dsp:cNvPr id="0" name=""/>
        <dsp:cNvSpPr/>
      </dsp:nvSpPr>
      <dsp:spPr>
        <a:xfrm>
          <a:off x="3949" y="3254634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Positional information is added</a:t>
          </a:r>
        </a:p>
      </dsp:txBody>
      <dsp:txXfrm>
        <a:off x="41621" y="3292306"/>
        <a:ext cx="2068359" cy="1210877"/>
      </dsp:txXfrm>
    </dsp:sp>
    <dsp:sp modelId="{711B329E-C506-0A48-A9E7-0DFFF73DF951}">
      <dsp:nvSpPr>
        <dsp:cNvPr id="0" name=""/>
        <dsp:cNvSpPr/>
      </dsp:nvSpPr>
      <dsp:spPr>
        <a:xfrm rot="16200000">
          <a:off x="2489753" y="2670029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1BAE4-DE2B-4042-859E-6581FB574F74}">
      <dsp:nvSpPr>
        <dsp:cNvPr id="0" name=""/>
        <dsp:cNvSpPr/>
      </dsp:nvSpPr>
      <dsp:spPr>
        <a:xfrm>
          <a:off x="2855075" y="3254634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Transformer layers process the sequence</a:t>
          </a:r>
        </a:p>
      </dsp:txBody>
      <dsp:txXfrm>
        <a:off x="2892747" y="3292306"/>
        <a:ext cx="2068359" cy="1210877"/>
      </dsp:txXfrm>
    </dsp:sp>
    <dsp:sp modelId="{97D1AE9A-2D7A-7A43-A348-50B5C67E36F3}">
      <dsp:nvSpPr>
        <dsp:cNvPr id="0" name=""/>
        <dsp:cNvSpPr/>
      </dsp:nvSpPr>
      <dsp:spPr>
        <a:xfrm rot="16200000">
          <a:off x="2489753" y="1062252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54BF9-9EF9-AE42-A391-CD46EEA00D82}">
      <dsp:nvSpPr>
        <dsp:cNvPr id="0" name=""/>
        <dsp:cNvSpPr/>
      </dsp:nvSpPr>
      <dsp:spPr>
        <a:xfrm>
          <a:off x="2855075" y="1646857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Attention finds important relationships</a:t>
          </a:r>
        </a:p>
      </dsp:txBody>
      <dsp:txXfrm>
        <a:off x="2892747" y="1684529"/>
        <a:ext cx="2068359" cy="1210877"/>
      </dsp:txXfrm>
    </dsp:sp>
    <dsp:sp modelId="{672960BF-BD32-E541-81EF-365D2B380A5F}">
      <dsp:nvSpPr>
        <dsp:cNvPr id="0" name=""/>
        <dsp:cNvSpPr/>
      </dsp:nvSpPr>
      <dsp:spPr>
        <a:xfrm>
          <a:off x="3293642" y="258363"/>
          <a:ext cx="2841299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0ED80-F26C-0142-83AB-544983973B16}">
      <dsp:nvSpPr>
        <dsp:cNvPr id="0" name=""/>
        <dsp:cNvSpPr/>
      </dsp:nvSpPr>
      <dsp:spPr>
        <a:xfrm>
          <a:off x="2855075" y="39080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Model predicts the next token</a:t>
          </a:r>
        </a:p>
      </dsp:txBody>
      <dsp:txXfrm>
        <a:off x="2892747" y="76752"/>
        <a:ext cx="2068359" cy="1210877"/>
      </dsp:txXfrm>
    </dsp:sp>
    <dsp:sp modelId="{FEC1607B-6045-194A-B1E3-718F1C932123}">
      <dsp:nvSpPr>
        <dsp:cNvPr id="0" name=""/>
        <dsp:cNvSpPr/>
      </dsp:nvSpPr>
      <dsp:spPr>
        <a:xfrm rot="5400000">
          <a:off x="5340878" y="1062252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DA913-C8DC-0B44-9964-ECD63F8F3A91}">
      <dsp:nvSpPr>
        <dsp:cNvPr id="0" name=""/>
        <dsp:cNvSpPr/>
      </dsp:nvSpPr>
      <dsp:spPr>
        <a:xfrm>
          <a:off x="5706200" y="39080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One token is chosen</a:t>
          </a:r>
        </a:p>
      </dsp:txBody>
      <dsp:txXfrm>
        <a:off x="5743872" y="76752"/>
        <a:ext cx="2068359" cy="1210877"/>
      </dsp:txXfrm>
    </dsp:sp>
    <dsp:sp modelId="{C020DFE1-60C6-3B43-95A2-D233DCE05DF3}">
      <dsp:nvSpPr>
        <dsp:cNvPr id="0" name=""/>
        <dsp:cNvSpPr/>
      </dsp:nvSpPr>
      <dsp:spPr>
        <a:xfrm rot="5400000">
          <a:off x="5340878" y="2670029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0DE8F-99C3-B34E-8FBD-A9F734FDE5BE}">
      <dsp:nvSpPr>
        <dsp:cNvPr id="0" name=""/>
        <dsp:cNvSpPr/>
      </dsp:nvSpPr>
      <dsp:spPr>
        <a:xfrm>
          <a:off x="5706200" y="1646857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Token is added to the response</a:t>
          </a:r>
        </a:p>
      </dsp:txBody>
      <dsp:txXfrm>
        <a:off x="5743872" y="1684529"/>
        <a:ext cx="2068359" cy="1210877"/>
      </dsp:txXfrm>
    </dsp:sp>
    <dsp:sp modelId="{46007B54-1D26-F346-965F-CAF57512171E}">
      <dsp:nvSpPr>
        <dsp:cNvPr id="0" name=""/>
        <dsp:cNvSpPr/>
      </dsp:nvSpPr>
      <dsp:spPr>
        <a:xfrm>
          <a:off x="5706200" y="3254634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Process repeats until the answer is complete</a:t>
          </a:r>
        </a:p>
      </dsp:txBody>
      <dsp:txXfrm>
        <a:off x="5743872" y="3292306"/>
        <a:ext cx="2068359" cy="12108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0DB3A-D977-BD4D-BE6B-8C0CB53EDD8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489F7-F86E-DD4C-8C7B-855ED64A8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1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489F7-F86E-DD4C-8C7B-855ED64A87F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1793-D8AD-6BC2-ADA3-5512D7EB9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15A83-D390-6BB3-B22E-610251D73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9EAB6-7F82-B797-CD5C-12A09C92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66E2E-2595-606F-C18B-79687A2D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2A40A-47DF-2582-C15D-1A1ADAD3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0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F9D8-CF2C-1446-0D14-11403AE4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6AF5-52C1-40F7-07EA-A3F5BF93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F2853-A514-D054-5DF2-599E2848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5A0E6-DC50-A029-5AB0-798F3B39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34AC5-4080-97B2-7B5A-FC212AE4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81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A646-CAA1-CAE2-8A04-5E09F9C46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FCB30-4BEA-0454-C21E-241B84119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B76C5-255A-8BDA-AC96-0F2B94BC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3947B-F65A-746A-4FA7-9997AAF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313B6-19E6-45B1-0D3E-80B70EC7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3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2622-091A-0485-412C-3ECEF45B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4193-0A89-5F7B-9898-0857BB628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2F08B-E70A-45DC-9E73-AF07E6091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AC028-AA79-756E-BE78-B72FA4A9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DAA4A-BDE8-27A8-3572-09304CBF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AC21F-B492-59BD-9E02-46F3F614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FC60-FD01-60EC-C04C-6F8C06C79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F8E33-AE55-5FAE-D191-552703A90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7916C-A541-715B-17EA-79329F4CA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F2917-B241-5567-F45C-9F30D1A18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4A562-35DF-C88C-2D35-EF5742872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7974F-0EE5-FCF8-521C-D1997566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6FE18-6AB8-9309-DF56-D8EFF358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16741-CE27-30BC-F54B-BCBF800B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3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43B9-3DA4-99CB-A265-A25DE06B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4E82B6-327B-B0AF-ECE1-14AED682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96930-1CF9-4C63-B36F-A40776B3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F8000-7B48-3650-7735-7E314118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3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555CE-101C-7311-26B4-318E51957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C4C9B7-2D3E-3897-F329-88FC7697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0CF7D-213D-3DF9-B6D0-C9F79CE0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9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40D5-8048-1E37-D984-940F3A2D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EE532-F858-41A2-13FD-E009EA9BA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3E02A-2C08-BCCF-9354-797A6E474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D4000-14C2-A74E-08F4-78332F7C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2B7DB-CA45-AAC9-1FEA-05B580582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D9B6A-8FC1-3127-887F-06693ECF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1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172C7-108F-D505-6054-F86FD7D6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A801D-1EC6-2F42-D3E5-5ADA35522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8FC78-BEBF-019E-FBD1-69F381C2C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6518F-CF2C-3511-7CB7-8B8CC8B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F1B1A-BF55-C7E4-2929-DECE338C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673B0-AB7C-1628-0257-4B5E9090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0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E667-C722-3B14-677C-C223B92D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2D358-1FA0-6D7E-EBD0-69640B568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3E5C6-8B24-E409-809A-273949D6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CFB3-B83C-5149-4EC9-CEAE350E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E7B4C-F9D0-7F90-E4EB-78C186C7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0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D8463-2828-F719-6FB3-745EAE535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88B14-AB58-8564-E760-243447C67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C257A-60CC-B514-9860-C1BB156A7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EC888-2093-054D-B1D9-5014620A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74AB0-6FEC-04D8-A813-8E54E56F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87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Grey Phoen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5DAE276-DC3F-7F4D-8C26-D2C187FF2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9CD9831-3B3C-754B-A7A8-952190E4C5A3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914400" y="1201106"/>
            <a:ext cx="5583936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053998-B21C-2143-A93B-FEA89D63FCCC}"/>
              </a:ext>
            </a:extLst>
          </p:cNvPr>
          <p:cNvSpPr/>
          <p:nvPr userDrawn="1"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8463C2-D23C-D848-9189-3E0C7F383ABD}"/>
              </a:ext>
            </a:extLst>
          </p:cNvPr>
          <p:cNvCxnSpPr>
            <a:cxnSpLocks/>
          </p:cNvCxnSpPr>
          <p:nvPr userDrawn="1"/>
        </p:nvCxnSpPr>
        <p:spPr>
          <a:xfrm>
            <a:off x="0" y="6395648"/>
            <a:ext cx="12192000" cy="0"/>
          </a:xfrm>
          <a:prstGeom prst="line">
            <a:avLst/>
          </a:prstGeom>
          <a:ln w="635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16BDA11F-C7EA-8E41-AB78-A68AE2718AE7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950579" y="3680781"/>
            <a:ext cx="5551823" cy="623598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2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C4D26A-BBA1-B2EC-134F-E0669B7BA7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61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rey Phoen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5DAE276-DC3F-7F4D-8C26-D2C187FF2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9CD9831-3B3C-754B-A7A8-952190E4C5A3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914400" y="1201106"/>
            <a:ext cx="5583936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053998-B21C-2143-A93B-FEA89D63FCCC}"/>
              </a:ext>
            </a:extLst>
          </p:cNvPr>
          <p:cNvSpPr/>
          <p:nvPr userDrawn="1"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8463C2-D23C-D848-9189-3E0C7F383ABD}"/>
              </a:ext>
            </a:extLst>
          </p:cNvPr>
          <p:cNvCxnSpPr>
            <a:cxnSpLocks/>
          </p:cNvCxnSpPr>
          <p:nvPr userDrawn="1"/>
        </p:nvCxnSpPr>
        <p:spPr>
          <a:xfrm>
            <a:off x="0" y="6395648"/>
            <a:ext cx="12192000" cy="0"/>
          </a:xfrm>
          <a:prstGeom prst="line">
            <a:avLst/>
          </a:prstGeom>
          <a:ln w="635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16BDA11F-C7EA-8E41-AB78-A68AE2718AE7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950579" y="3680781"/>
            <a:ext cx="5551823" cy="623598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2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C4D26A-BBA1-B2EC-134F-E0669B7BA7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84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Maro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8B395A-ABD1-784B-A94A-7A6283C5448E}"/>
              </a:ext>
            </a:extLst>
          </p:cNvPr>
          <p:cNvSpPr/>
          <p:nvPr/>
        </p:nvSpPr>
        <p:spPr>
          <a:xfrm>
            <a:off x="0" y="3"/>
            <a:ext cx="12192000" cy="686523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968566"/>
            <a:ext cx="10515600" cy="92551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359716"/>
            <a:ext cx="10515600" cy="2581861"/>
          </a:xfrm>
        </p:spPr>
        <p:txBody>
          <a:bodyPr anchor="b">
            <a:normAutofit/>
          </a:bodyPr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4CFDE2-E6EB-A345-957E-50A4ECD423D1}"/>
              </a:ext>
            </a:extLst>
          </p:cNvPr>
          <p:cNvSpPr/>
          <p:nvPr userDrawn="1"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D39B1C-C9BE-9F4C-88E3-EF2E97B7E504}"/>
              </a:ext>
            </a:extLst>
          </p:cNvPr>
          <p:cNvCxnSpPr>
            <a:cxnSpLocks/>
          </p:cNvCxnSpPr>
          <p:nvPr userDrawn="1"/>
        </p:nvCxnSpPr>
        <p:spPr>
          <a:xfrm>
            <a:off x="0" y="6395648"/>
            <a:ext cx="12192000" cy="0"/>
          </a:xfrm>
          <a:prstGeom prst="line">
            <a:avLst/>
          </a:prstGeom>
          <a:ln w="635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853C0E5-BAE9-8B41-90FD-2C57873CF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 trans="8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266DED-8726-520F-5B18-A63F98742D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34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81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"/>
            <a:ext cx="105156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="0" i="0">
                <a:solidFill>
                  <a:srgbClr val="8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8"/>
            <a:ext cx="5157787" cy="3400425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2" y="1681163"/>
            <a:ext cx="5183188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="0" i="0">
                <a:solidFill>
                  <a:srgbClr val="8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8"/>
            <a:ext cx="5183188" cy="3400425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810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46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02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326AB-2B19-2B4B-A7BC-8A991C83D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811871"/>
            <a:ext cx="7315200" cy="4049183"/>
          </a:xfrm>
        </p:spPr>
        <p:txBody>
          <a:bodyPr/>
          <a:lstStyle>
            <a:lvl1pPr marL="0" indent="0">
              <a:buNone/>
              <a:defRPr sz="2400" b="0" i="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9BB38-E405-0644-A47A-B0875B53B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0600" y="1811868"/>
            <a:ext cx="2743200" cy="4057121"/>
          </a:xfrm>
        </p:spPr>
        <p:txBody>
          <a:bodyPr/>
          <a:lstStyle>
            <a:lvl1pPr marL="0" indent="0">
              <a:buNone/>
              <a:defRPr sz="1200" b="0" i="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CFD0A-EE5E-3E41-9808-9D111F54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0B90FFB-1D8E-AF4C-A20C-D4A3B8A3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38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AD5A5-FF7C-A6AF-EAE8-14BCD664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DC422-7EDB-C5DD-1B0A-2A53B3BC1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E3D6-785D-0906-09DD-62B33F5A3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26086-26CD-BC49-B646-6CA75B15C81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F8084-B91D-3C52-43E7-CC0EEB64F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DAB84-F95F-6291-F705-33E4E0733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5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803185-146A-A14A-A4BF-97AB80981521}"/>
              </a:ext>
            </a:extLst>
          </p:cNvPr>
          <p:cNvSpPr/>
          <p:nvPr userDrawn="1"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432EE2-7792-3845-B4F9-855AEA81B940}"/>
              </a:ext>
            </a:extLst>
          </p:cNvPr>
          <p:cNvCxnSpPr>
            <a:cxnSpLocks/>
          </p:cNvCxnSpPr>
          <p:nvPr userDrawn="1"/>
        </p:nvCxnSpPr>
        <p:spPr>
          <a:xfrm>
            <a:off x="0" y="6395648"/>
            <a:ext cx="12192000" cy="0"/>
          </a:xfrm>
          <a:prstGeom prst="line">
            <a:avLst/>
          </a:prstGeom>
          <a:ln w="635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61B0B-37CC-031F-062E-4972D3E0D7A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3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800000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00000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nym3fkHqyk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research.google/pubs/attention-is-all-you-need/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youtube.com/watch?v=zjkBMFhNj_g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pubs/attention-is-all-you-need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mgad-hasan/explaining-how-llms-work-in-7-levels-of-abstraction-3179de558686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heamericangenius.com/housing/real-estate-tech/a-robot-attorney-will-be-allowed-to-defend-a-case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68D28F-0781-B148-8100-51B1E89A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579" y="2079172"/>
            <a:ext cx="6352674" cy="1884638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LLMs v. LCMs</a:t>
            </a:r>
            <a:b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</a:br>
            <a:b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</a:b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4/14/26 </a:t>
            </a:r>
            <a:r>
              <a:rPr kumimoji="0" lang="en-US" sz="2200" b="1" i="0" u="none" strike="noStrike" kern="1200" cap="none" spc="0" normalizeH="0" baseline="0" noProof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Capston</a:t>
            </a:r>
            <a:r>
              <a:rPr lang="en-US" sz="2200" b="1">
                <a:solidFill>
                  <a:srgbClr val="800000"/>
                </a:solidFill>
                <a:latin typeface="Lava Devanagari" pitchFamily="2" charset="77"/>
                <a:cs typeface="Lava Devanagari" pitchFamily="2" charset="77"/>
              </a:rPr>
              <a:t>e Session</a:t>
            </a:r>
            <a:endParaRPr lang="en-US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B5D1ECB-1810-97B3-BFF1-9D8E08F913DC}"/>
              </a:ext>
            </a:extLst>
          </p:cNvPr>
          <p:cNvSpPr txBox="1">
            <a:spLocks/>
          </p:cNvSpPr>
          <p:nvPr/>
        </p:nvSpPr>
        <p:spPr>
          <a:xfrm>
            <a:off x="950579" y="4363452"/>
            <a:ext cx="6352674" cy="8823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accent1"/>
                </a:solidFill>
                <a:latin typeface="Helvetica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va Devanagari" pitchFamily="2" charset="77"/>
                <a:ea typeface="+mj-ea"/>
                <a:cs typeface="Lava Devanagari" pitchFamily="2" charset="77"/>
              </a:rPr>
              <a:t>Jaysen Jensen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va Devanagari" pitchFamily="2" charset="77"/>
                <a:ea typeface="+mj-ea"/>
                <a:cs typeface="Lava Devanagari" pitchFamily="2" charset="77"/>
              </a:rPr>
              <a:t>Nicholas Dhaliwal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va Devanagari" pitchFamily="2" charset="77"/>
                <a:ea typeface="+mj-ea"/>
                <a:cs typeface="Lava Devanagari" pitchFamily="2" charset="77"/>
              </a:rPr>
              <a:t>Nicholas Mikhail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7314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3E62-78C3-9FC2-7DB0-79549607D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8C84-5C6E-827D-1F28-CAF09551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ctr">
            <a:normAutofit/>
          </a:bodyPr>
          <a:lstStyle/>
          <a:p>
            <a:r>
              <a:rPr lang="en-US" b="1" i="0" kern="1200">
                <a:latin typeface="Lava Devanagari" pitchFamily="2" charset="77"/>
                <a:cs typeface="Lava Devanagari" pitchFamily="2" charset="77"/>
              </a:rPr>
              <a:t>What is an LLM?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021DEE-4479-E6E6-2C66-644C8BB78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42" y="1461665"/>
            <a:ext cx="6378701" cy="4579937"/>
          </a:xfrm>
        </p:spPr>
        <p:txBody>
          <a:bodyPr vert="horz" lIns="0" tIns="45720" rIns="0" bIns="45720" rtlCol="0">
            <a:normAutofit fontScale="92500" lnSpcReduction="10000"/>
          </a:bodyPr>
          <a:lstStyle/>
          <a:p>
            <a:r>
              <a:rPr lang="en-US" sz="2000">
                <a:latin typeface="Lava Devanagari" pitchFamily="2" charset="77"/>
                <a:cs typeface="Lava Devanagari" pitchFamily="2" charset="77"/>
              </a:rPr>
              <a:t>AI tools trained to understand, generate, and manipulate human language. </a:t>
            </a:r>
          </a:p>
          <a:p>
            <a:endParaRPr lang="en-US" sz="2000">
              <a:latin typeface="Lava Devanagari" pitchFamily="2" charset="77"/>
              <a:cs typeface="Lava Devanagari" pitchFamily="2" charset="77"/>
            </a:endParaRPr>
          </a:p>
          <a:p>
            <a:pPr lvl="1"/>
            <a:r>
              <a:rPr lang="en-US">
                <a:latin typeface="Lava Devanagari" pitchFamily="2" charset="77"/>
                <a:cs typeface="Lava Devanagari" pitchFamily="2" charset="77"/>
              </a:rPr>
              <a:t>They are called “Large” because of the massive data used for training and the number of parameters.</a:t>
            </a:r>
          </a:p>
          <a:p>
            <a:pPr lvl="1"/>
            <a:endParaRPr lang="en-US">
              <a:latin typeface="Lava Devanagari" pitchFamily="2" charset="77"/>
              <a:cs typeface="Lava Devanagari" pitchFamily="2" charset="77"/>
            </a:endParaRPr>
          </a:p>
          <a:p>
            <a:r>
              <a:rPr lang="en-US" sz="2000">
                <a:latin typeface="Lava Devanagari" pitchFamily="2" charset="77"/>
                <a:cs typeface="Lava Devanagari" pitchFamily="2" charset="77"/>
              </a:rPr>
              <a:t>LLMs are Probabilistic Prediction Engines</a:t>
            </a:r>
          </a:p>
          <a:p>
            <a:endParaRPr lang="en-US" sz="2000">
              <a:latin typeface="Lava Devanagari" pitchFamily="2" charset="77"/>
              <a:cs typeface="Lava Devanagari" pitchFamily="2" charset="77"/>
            </a:endParaRPr>
          </a:p>
          <a:p>
            <a:pPr lvl="1"/>
            <a:r>
              <a:rPr lang="en-US">
                <a:latin typeface="Lava Devanagari" pitchFamily="2" charset="77"/>
                <a:cs typeface="Lava Devanagari" pitchFamily="2" charset="77"/>
              </a:rPr>
              <a:t>LLMs do not “lookup” an answer in a database, it calculate the probability of which token should come next based on patterns learned during training</a:t>
            </a:r>
          </a:p>
          <a:p>
            <a:pPr lvl="1"/>
            <a:endParaRPr lang="en-US">
              <a:latin typeface="Lava Devanagari" pitchFamily="2" charset="77"/>
              <a:cs typeface="Lava Devanagari" pitchFamily="2" charset="77"/>
            </a:endParaRPr>
          </a:p>
          <a:p>
            <a:pPr lvl="1"/>
            <a:r>
              <a:rPr lang="en-US">
                <a:latin typeface="Lava Devanagari" pitchFamily="2" charset="77"/>
                <a:cs typeface="Lava Devanagari" pitchFamily="2" charset="77"/>
              </a:rPr>
              <a:t>Lossy Compression of Text Data found in Training Data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BA28370-3CA3-7A1B-AB3E-416FB52B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84DE638-B34B-FF16-AC20-536541595E51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1026" name="Picture 2" descr="What Is the Difference in Lossy vs Lossless Compression?">
            <a:extLst>
              <a:ext uri="{FF2B5EF4-FFF2-40B4-BE49-F238E27FC236}">
                <a16:creationId xmlns:a16="http://schemas.microsoft.com/office/drawing/2014/main" id="{B884D89C-3A09-0D08-AA8F-462DD45B2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490" y="1744402"/>
            <a:ext cx="4657668" cy="336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099AC8-982C-3F72-0995-26A01C084F86}"/>
              </a:ext>
            </a:extLst>
          </p:cNvPr>
          <p:cNvSpPr txBox="1"/>
          <p:nvPr/>
        </p:nvSpPr>
        <p:spPr>
          <a:xfrm>
            <a:off x="7930205" y="6009226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latin typeface="Lava Devanagari" pitchFamily="2" charset="77"/>
                <a:cs typeface="Lava Devanagari" pitchFamily="2" charset="77"/>
                <a:hlinkClick r:id="rId3"/>
              </a:rPr>
              <a:t>Source: Elegant Themes - YouTube</a:t>
            </a:r>
            <a:endParaRPr lang="en-US" sz="1400">
              <a:latin typeface="Lava Devanagari" pitchFamily="2" charset="77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894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BDAA-E860-DC04-FFD4-C6AC4844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B165-53A5-48F1-F4B6-7DD2A498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What is an LLM?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151341-4A08-26C3-A145-066E28A21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36"/>
            <a:ext cx="6179288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endParaRPr lang="en-US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/>
                <a:cs typeface="Lava Devanagari" pitchFamily="2" charset="77"/>
              </a:rPr>
              <a:t>2 files: 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/>
                <a:cs typeface="Lava Devanagari" pitchFamily="2" charset="77"/>
              </a:rPr>
              <a:t>Parameters (~140 GB, ~2 bytes per parameter)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/>
                <a:cs typeface="Lava Devanagari" pitchFamily="2" charset="77"/>
              </a:rPr>
              <a:t>Run file (C, python, etc.)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/>
                <a:cs typeface="Lava Devanagari" pitchFamily="2" charset="77"/>
              </a:rPr>
              <a:t>Built on the Transformer architecture introduced in Google’s 2017 paper, </a:t>
            </a:r>
            <a:r>
              <a:rPr lang="en-US">
                <a:latin typeface="Lava Devanagari"/>
                <a:cs typeface="Lava Devanagari" pitchFamily="2" charset="77"/>
                <a:hlinkClick r:id="rId2"/>
              </a:rPr>
              <a:t>“Attention is All You Need”</a:t>
            </a:r>
            <a:endParaRPr lang="en-US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>
              <a:latin typeface="Lava Devanagari"/>
              <a:cs typeface="Lava Devanagari" pitchFamily="2" charset="77"/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/>
                <a:cs typeface="Lava Devanagari" pitchFamily="2" charset="77"/>
              </a:rPr>
              <a:t>Replaced recurrent and convolutional neural networks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CA0D8-2B8C-4F15-E5C1-ECB20C24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3BB79-9574-2FF4-626A-A77CAF2ED1D8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557DA-8952-44C6-9D5B-68F05659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485" y="1312744"/>
            <a:ext cx="4294520" cy="46753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717290-3604-EB9B-902F-AFD60E5C96B2}"/>
              </a:ext>
            </a:extLst>
          </p:cNvPr>
          <p:cNvSpPr txBox="1"/>
          <p:nvPr/>
        </p:nvSpPr>
        <p:spPr>
          <a:xfrm>
            <a:off x="7930205" y="6009226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latin typeface="Lava Devanagari" pitchFamily="2" charset="77"/>
                <a:cs typeface="Lava Devanagari" pitchFamily="2" charset="77"/>
                <a:hlinkClick r:id="rId4"/>
              </a:rPr>
              <a:t>Source: Andrej Karpathy - YouTube</a:t>
            </a:r>
            <a:endParaRPr lang="en-US" sz="1400">
              <a:latin typeface="Lava Devanagari" pitchFamily="2" charset="77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5165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8A39-4228-F1B8-BD25-018D18CB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25DC-5683-75EA-5CD4-745E6776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Developing an LLM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08AF3-63E3-732C-6B2B-0ACEA600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33A3B-C91D-1B4A-1A0E-66CF2AA534B0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90806-35CB-067B-FFC3-0E187E303785}"/>
              </a:ext>
            </a:extLst>
          </p:cNvPr>
          <p:cNvSpPr txBox="1"/>
          <p:nvPr/>
        </p:nvSpPr>
        <p:spPr>
          <a:xfrm>
            <a:off x="7751786" y="5239400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latin typeface="Lava Devanagari" pitchFamily="2" charset="77"/>
                <a:cs typeface="Lava Devanagari" pitchFamily="2" charset="77"/>
              </a:rPr>
              <a:t>Source: Ashish Pujari - NLP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112D17-55E7-3CF9-53F7-3555A546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793" y="2043567"/>
            <a:ext cx="8281212" cy="2915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870D5A-DBF2-64D9-94FB-41BD6B6BD518}"/>
              </a:ext>
            </a:extLst>
          </p:cNvPr>
          <p:cNvSpPr txBox="1"/>
          <p:nvPr/>
        </p:nvSpPr>
        <p:spPr>
          <a:xfrm>
            <a:off x="336046" y="1759264"/>
            <a:ext cx="32318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va Devanagari" pitchFamily="2" charset="77"/>
                <a:cs typeface="Lava Devanagari" pitchFamily="2" charset="77"/>
              </a:rPr>
              <a:t>·  </a:t>
            </a:r>
            <a:r>
              <a:rPr lang="en-US" b="1">
                <a:latin typeface="Lava Devanagari" pitchFamily="2" charset="77"/>
                <a:cs typeface="Lava Devanagari" pitchFamily="2" charset="77"/>
              </a:rPr>
              <a:t>Training:</a:t>
            </a:r>
            <a:r>
              <a:rPr lang="en-US">
                <a:latin typeface="Lava Devanagari" pitchFamily="2" charset="77"/>
                <a:cs typeface="Lava Devanagari" pitchFamily="2" charset="77"/>
              </a:rPr>
              <a:t> LLMs require massive compute (thousands of GPUs over weeks/months), driving costs from millions to $100M+ for frontier models.</a:t>
            </a:r>
          </a:p>
          <a:p>
            <a:endParaRPr lang="en-US">
              <a:latin typeface="Lava Devanagari" pitchFamily="2" charset="77"/>
              <a:cs typeface="Lava Devanagari" pitchFamily="2" charset="77"/>
            </a:endParaRPr>
          </a:p>
          <a:p>
            <a:endParaRPr lang="en-US">
              <a:latin typeface="Lava Devanagari" pitchFamily="2" charset="77"/>
              <a:cs typeface="Lava Devanagari" pitchFamily="2" charset="77"/>
            </a:endParaRPr>
          </a:p>
          <a:p>
            <a:r>
              <a:rPr lang="en-US">
                <a:latin typeface="Lava Devanagari" pitchFamily="2" charset="77"/>
                <a:cs typeface="Lava Devanagari" pitchFamily="2" charset="77"/>
              </a:rPr>
              <a:t>·  </a:t>
            </a:r>
            <a:r>
              <a:rPr lang="en-US" b="1">
                <a:latin typeface="Lava Devanagari" pitchFamily="2" charset="77"/>
                <a:cs typeface="Lava Devanagari" pitchFamily="2" charset="77"/>
              </a:rPr>
              <a:t>Maintenance:</a:t>
            </a:r>
            <a:r>
              <a:rPr lang="en-US">
                <a:latin typeface="Lava Devanagari" pitchFamily="2" charset="77"/>
                <a:cs typeface="Lava Devanagari" pitchFamily="2" charset="77"/>
              </a:rPr>
              <a:t> Ongoing costs include inference at scale, updates/retraining, and infrastructure which often exceed initial training costs over time.</a:t>
            </a:r>
          </a:p>
          <a:p>
            <a:endParaRPr lang="en-US">
              <a:latin typeface="Lava Devanagari" pitchFamily="2" charset="77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3444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C5F18-17FF-59CD-232D-C249A3E77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DB7E-9999-B44A-599E-5C72D34D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Overview of an LLM Workflow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3ECB69E-317B-C455-D682-34C85914F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5950762"/>
              </p:ext>
            </p:extLst>
          </p:nvPr>
        </p:nvGraphicFramePr>
        <p:xfrm>
          <a:off x="4045122" y="1312744"/>
          <a:ext cx="7853854" cy="4579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6C78AA-0A0E-CBA4-FA38-1105291B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94C9D-559F-5AAD-74F3-B9320BD510FE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B37EC2B-EF0D-B771-1AC9-AFC588BC6F95}"/>
              </a:ext>
            </a:extLst>
          </p:cNvPr>
          <p:cNvSpPr txBox="1">
            <a:spLocks/>
          </p:cNvSpPr>
          <p:nvPr/>
        </p:nvSpPr>
        <p:spPr>
          <a:xfrm>
            <a:off x="583443" y="1461665"/>
            <a:ext cx="3189350" cy="45799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va Devanagari" pitchFamily="2" charset="77"/>
                <a:cs typeface="Lava Devanagari" pitchFamily="2" charset="77"/>
              </a:rPr>
              <a:t>An LLM takes input text, converts it into tokens and numerical representations</a:t>
            </a:r>
          </a:p>
          <a:p>
            <a:endParaRPr lang="en-US" sz="2000">
              <a:latin typeface="Lava Devanagari" pitchFamily="2" charset="77"/>
              <a:cs typeface="Lava Devanagari" pitchFamily="2" charset="77"/>
            </a:endParaRPr>
          </a:p>
          <a:p>
            <a:r>
              <a:rPr lang="en-US" sz="2000">
                <a:latin typeface="Lava Devanagari" pitchFamily="2" charset="77"/>
                <a:cs typeface="Lava Devanagari" pitchFamily="2" charset="77"/>
              </a:rPr>
              <a:t>These are processed through transformer layers with attention, predicts the most likely next token</a:t>
            </a:r>
          </a:p>
          <a:p>
            <a:endParaRPr lang="en-US" sz="2000">
              <a:latin typeface="Lava Devanagari" pitchFamily="2" charset="77"/>
              <a:cs typeface="Lava Devanagari" pitchFamily="2" charset="77"/>
            </a:endParaRPr>
          </a:p>
          <a:p>
            <a:r>
              <a:rPr lang="en-US" sz="2000">
                <a:latin typeface="Lava Devanagari" pitchFamily="2" charset="77"/>
                <a:cs typeface="Lava Devanagari" pitchFamily="2" charset="77"/>
              </a:rPr>
              <a:t>Repeats that process until it produces a complete response.</a:t>
            </a:r>
          </a:p>
        </p:txBody>
      </p:sp>
    </p:spTree>
    <p:extLst>
      <p:ext uri="{BB962C8B-B14F-4D97-AF65-F5344CB8AC3E}">
        <p14:creationId xmlns:p14="http://schemas.microsoft.com/office/powerpoint/2010/main" val="233503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5A73-2464-B918-D79D-E93B1239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Transformer Model - MachineLearningMastery.com">
            <a:extLst>
              <a:ext uri="{FF2B5EF4-FFF2-40B4-BE49-F238E27FC236}">
                <a16:creationId xmlns:a16="http://schemas.microsoft.com/office/drawing/2014/main" id="{89BA1B43-FCE5-9669-95D4-1AB913DC0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412" y="291246"/>
            <a:ext cx="3723289" cy="524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CDF927-8EB2-C08F-1749-9EBD4628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Transformer Architecture Overview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916768-DA8E-688D-A952-F9527C356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36"/>
            <a:ext cx="6382407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>
                <a:latin typeface="Lava Devanagari"/>
                <a:cs typeface="Lava Devanagari" pitchFamily="2" charset="77"/>
              </a:rPr>
              <a:t>Parallel attention heads allow a Transformer model to simultaneously focus on different types of relationships between words in a sequence.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endParaRPr lang="en-US" sz="200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>
                <a:latin typeface="Lava Devanagari"/>
                <a:cs typeface="Lava Devanagari" pitchFamily="2" charset="77"/>
              </a:rPr>
              <a:t>Multiple heads prevent the model from fixating on just one token or averaging out all information, which makes the model more robust to noise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A4CDE-B761-5C27-1E1D-3839A6D2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8ADF3-935E-A729-A154-FC2F7B7561FE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86B5DE-97D7-4240-38AF-04A2F8C13A07}"/>
              </a:ext>
            </a:extLst>
          </p:cNvPr>
          <p:cNvSpPr txBox="1"/>
          <p:nvPr/>
        </p:nvSpPr>
        <p:spPr>
          <a:xfrm>
            <a:off x="7930205" y="6009226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latin typeface="Lava Devanagari" pitchFamily="2" charset="77"/>
                <a:cs typeface="Lava Devanagari" pitchFamily="2" charset="77"/>
                <a:hlinkClick r:id="rId3"/>
              </a:rPr>
              <a:t>Source: Attention is All You Need – Google</a:t>
            </a:r>
            <a:r>
              <a:rPr lang="en-US" sz="1400">
                <a:latin typeface="Lava Devanagari" pitchFamily="2" charset="77"/>
                <a:cs typeface="Lava Devanagari" pitchFamily="2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123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1E41-65FC-466B-CEA5-3FCB4620D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978E-EBAF-FC11-E6CB-0D3F9150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Next Token Prediction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841C4B6C-73C3-6FF2-242B-8FAD5B56C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34136"/>
            <a:ext cx="6008650" cy="4466614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>
                <a:latin typeface="Lava Devanagari"/>
                <a:cs typeface="Lava Devanagari" pitchFamily="2" charset="77"/>
              </a:rPr>
              <a:t>Computes a probability distribution over all possible next tokens based on the input context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>
                <a:latin typeface="Lava Devanagari"/>
                <a:cs typeface="Lava Devanagari" pitchFamily="2" charset="77"/>
              </a:rPr>
              <a:t>Selects the most likely (or sampled) token to extend the sequence and continue generation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endParaRPr lang="en-US" sz="200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>
                <a:latin typeface="Lava Devanagari"/>
                <a:cs typeface="Lava Devanagari" pitchFamily="2" charset="77"/>
              </a:rPr>
              <a:t>Next-token prediction is not actual thinking; its probabilistic pattern matching… 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>
              <a:latin typeface="Lava Devanagari"/>
              <a:cs typeface="Lava Devanagari" pitchFamily="2" charset="77"/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600">
                <a:latin typeface="Lava Devanagari"/>
                <a:cs typeface="Lava Devanagari" pitchFamily="2" charset="77"/>
              </a:rPr>
              <a:t>Selecting the most likely next word based on learned statistical patterns, not performing genuine reasoning.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71150-50CE-37D7-D037-C125AD69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4F2C5-6B37-62A4-3934-4A4953AA413C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52C3AB-BFEB-0AFE-0F3A-B0008B81C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547" y="1534136"/>
            <a:ext cx="4848825" cy="365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40AD83-9021-B497-B5C0-3CBC80D14AD9}"/>
              </a:ext>
            </a:extLst>
          </p:cNvPr>
          <p:cNvSpPr txBox="1"/>
          <p:nvPr/>
        </p:nvSpPr>
        <p:spPr>
          <a:xfrm>
            <a:off x="7930204" y="5323864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latin typeface="Lava Devanagari" pitchFamily="2" charset="77"/>
                <a:cs typeface="Lava Devanagari" pitchFamily="2" charset="77"/>
                <a:hlinkClick r:id="rId3"/>
              </a:rPr>
              <a:t>Source: Amgad Hasan - Medium</a:t>
            </a:r>
            <a:endParaRPr lang="en-US" sz="1400">
              <a:latin typeface="Lava Devanagari" pitchFamily="2" charset="77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1729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F154-93B9-AE4F-CE7F-9B8F04FD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8188-FB36-8B20-DB0C-CE1DCA22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Next Token Prediction Example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5BCD68-7A33-5DF4-41C1-E1459EE47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/>
                <a:cs typeface="Lava Devanagari" pitchFamily="2" charset="77"/>
              </a:rPr>
              <a:t>At the baseball game there was a… </a:t>
            </a:r>
            <a:endParaRPr lang="en-US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DF09D-54FD-67BA-D23E-D23C6BA1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61AA6-6DBD-8034-DE1F-4E7451C2CC24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7170" name="Picture 2" descr="Generated image: Baseball game activity by temperature">
            <a:extLst>
              <a:ext uri="{FF2B5EF4-FFF2-40B4-BE49-F238E27FC236}">
                <a16:creationId xmlns:a16="http://schemas.microsoft.com/office/drawing/2014/main" id="{E7990E1C-63BA-387C-7606-79F35A531E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70" b="22370"/>
          <a:stretch>
            <a:fillRect/>
          </a:stretch>
        </p:blipFill>
        <p:spPr bwMode="auto">
          <a:xfrm>
            <a:off x="5255781" y="2819400"/>
            <a:ext cx="6798224" cy="250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52D9CF-C4FB-AA0C-86D3-A41F47998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138794"/>
              </p:ext>
            </p:extLst>
          </p:nvPr>
        </p:nvGraphicFramePr>
        <p:xfrm>
          <a:off x="571499" y="2819399"/>
          <a:ext cx="4417581" cy="2504465"/>
        </p:xfrm>
        <a:graphic>
          <a:graphicData uri="http://schemas.openxmlformats.org/drawingml/2006/table">
            <a:tbl>
              <a:tblPr/>
              <a:tblGrid>
                <a:gridCol w="2187346">
                  <a:extLst>
                    <a:ext uri="{9D8B030D-6E8A-4147-A177-3AD203B41FA5}">
                      <a16:colId xmlns:a16="http://schemas.microsoft.com/office/drawing/2014/main" val="201016437"/>
                    </a:ext>
                  </a:extLst>
                </a:gridCol>
                <a:gridCol w="2230235">
                  <a:extLst>
                    <a:ext uri="{9D8B030D-6E8A-4147-A177-3AD203B41FA5}">
                      <a16:colId xmlns:a16="http://schemas.microsoft.com/office/drawing/2014/main" val="4108992661"/>
                    </a:ext>
                  </a:extLst>
                </a:gridCol>
              </a:tblGrid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Lava Devanagari" pitchFamily="2" charset="77"/>
                          <a:cs typeface="Lava Devanagari" pitchFamily="2" charset="77"/>
                        </a:rPr>
                        <a:t>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Lava Devanagari" pitchFamily="2" charset="77"/>
                          <a:cs typeface="Lava Devanagari" pitchFamily="2" charset="77"/>
                        </a:rPr>
                        <a:t>Probability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73461"/>
                  </a:ext>
                </a:extLst>
              </a:tr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Crowd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0.50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93495"/>
                  </a:ext>
                </a:extLst>
              </a:tr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Homerun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0.30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84120"/>
                  </a:ext>
                </a:extLst>
              </a:tr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Fight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0.195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967563"/>
                  </a:ext>
                </a:extLst>
              </a:tr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Nuke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0.005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13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620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BA89-5C49-5351-F057-C1824719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4BC8-468E-449C-273B-69379CE9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Limitations of LLMs in Law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933C25-2233-EE4D-81C0-52177E28B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85" y="1312744"/>
            <a:ext cx="6763215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>
                <a:latin typeface="Lava Devanagari"/>
                <a:cs typeface="Lava Devanagari" pitchFamily="2" charset="77"/>
              </a:rPr>
              <a:t>LLMs often </a:t>
            </a:r>
            <a:r>
              <a:rPr lang="en-US" sz="2000" b="1">
                <a:latin typeface="Lava Devanagari"/>
                <a:cs typeface="Lava Devanagari" pitchFamily="2" charset="77"/>
              </a:rPr>
              <a:t>appear to reason in legal contexts</a:t>
            </a:r>
            <a:r>
              <a:rPr lang="en-US" sz="2000">
                <a:latin typeface="Lava Devanagari"/>
                <a:cs typeface="Lava Devanagari" pitchFamily="2" charset="77"/>
              </a:rPr>
              <a:t>, but they </a:t>
            </a:r>
            <a:r>
              <a:rPr lang="en-US" sz="2000" b="1">
                <a:latin typeface="Lava Devanagari"/>
                <a:cs typeface="Lava Devanagari" pitchFamily="2" charset="77"/>
              </a:rPr>
              <a:t>primarily match and recombine patterns</a:t>
            </a:r>
            <a:r>
              <a:rPr lang="en-US" sz="2000">
                <a:latin typeface="Lava Devanagari"/>
                <a:cs typeface="Lava Devanagari" pitchFamily="2" charset="77"/>
              </a:rPr>
              <a:t> from training data </a:t>
            </a:r>
            <a:r>
              <a:rPr lang="en-US" sz="2000" b="1">
                <a:latin typeface="Lava Devanagari"/>
                <a:cs typeface="Lava Devanagari" pitchFamily="2" charset="77"/>
              </a:rPr>
              <a:t>rather than perform true hierarchical analysis</a:t>
            </a:r>
            <a:r>
              <a:rPr lang="en-US" sz="2000">
                <a:latin typeface="Lava Devanagari"/>
                <a:cs typeface="Lava Devanagari" pitchFamily="2" charset="77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>
              <a:latin typeface="Lava Devanagari"/>
              <a:cs typeface="Lava Devanagari" pitchFamily="2" charset="77"/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600">
                <a:latin typeface="Lava Devanagari"/>
                <a:cs typeface="Lava Devanagari" pitchFamily="2" charset="77"/>
              </a:rPr>
              <a:t>They can generate </a:t>
            </a:r>
            <a:r>
              <a:rPr lang="en-US" sz="1600" b="1">
                <a:latin typeface="Lava Devanagari"/>
                <a:cs typeface="Lava Devanagari" pitchFamily="2" charset="77"/>
              </a:rPr>
              <a:t>convincing outputs</a:t>
            </a:r>
            <a:r>
              <a:rPr lang="en-US" sz="1600">
                <a:latin typeface="Lava Devanagari"/>
                <a:cs typeface="Lava Devanagari" pitchFamily="2" charset="77"/>
              </a:rPr>
              <a:t> by retrieving and adapting familiar argument structures, </a:t>
            </a:r>
            <a:r>
              <a:rPr lang="en-US" sz="1600" b="1">
                <a:latin typeface="Lava Devanagari"/>
                <a:cs typeface="Lava Devanagari" pitchFamily="2" charset="77"/>
              </a:rPr>
              <a:t>giving</a:t>
            </a:r>
            <a:r>
              <a:rPr lang="en-US" sz="1600">
                <a:latin typeface="Lava Devanagari"/>
                <a:cs typeface="Lava Devanagari" pitchFamily="2" charset="77"/>
              </a:rPr>
              <a:t> </a:t>
            </a:r>
            <a:r>
              <a:rPr lang="en-US" sz="1600" b="1">
                <a:latin typeface="Lava Devanagari"/>
                <a:cs typeface="Lava Devanagari" pitchFamily="2" charset="77"/>
              </a:rPr>
              <a:t>the illusion of expertise</a:t>
            </a:r>
            <a:r>
              <a:rPr lang="en-US" sz="1600">
                <a:latin typeface="Lava Devanagari"/>
                <a:cs typeface="Lava Devanagari" pitchFamily="2" charset="77"/>
              </a:rPr>
              <a:t>.</a:t>
            </a:r>
            <a:endParaRPr lang="en-US" sz="2000">
              <a:latin typeface="Lava Devanagari"/>
              <a:cs typeface="Lava Devanagari" pitchFamily="2" charset="77"/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600">
                <a:latin typeface="Lava Devanagari"/>
                <a:cs typeface="Lava Devanagari" pitchFamily="2" charset="77"/>
              </a:rPr>
              <a:t>Key risk for practitioners: failures are hard to detect, because responses are fluent, confident, and structurally similar to real legal reasoning.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160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>
                <a:latin typeface="Lava Devanagari"/>
                <a:cs typeface="Lava Devanagari" pitchFamily="2" charset="77"/>
              </a:rPr>
              <a:t>LLMs only reason over the text currently in their context window. Limits their ability to: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600">
                <a:latin typeface="Lava Devanagari"/>
                <a:cs typeface="Lava Devanagari" pitchFamily="2" charset="77"/>
              </a:rPr>
              <a:t>Track long, multi-step legal arguments across documents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600">
                <a:latin typeface="Lava Devanagari"/>
                <a:cs typeface="Lava Devanagari" pitchFamily="2" charset="77"/>
              </a:rPr>
              <a:t>Maintain consistent reasoning over extended fact patterns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1600">
              <a:latin typeface="Lava Devanagari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E329F-E21F-3377-95C8-980461F0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7EEB5-68B2-CA33-D0C7-6E97D3D1ECB7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8195" name="Picture 3" descr="A robot attorney will be allowed to defend a case | The Real Daily">
            <a:extLst>
              <a:ext uri="{FF2B5EF4-FFF2-40B4-BE49-F238E27FC236}">
                <a16:creationId xmlns:a16="http://schemas.microsoft.com/office/drawing/2014/main" id="{B4C08DAA-3D27-DEC0-F164-D4ED9ADE4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765" y="1508189"/>
            <a:ext cx="4489240" cy="299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08148D-5289-05A2-6AAE-CE8A78B80E07}"/>
              </a:ext>
            </a:extLst>
          </p:cNvPr>
          <p:cNvSpPr txBox="1"/>
          <p:nvPr/>
        </p:nvSpPr>
        <p:spPr>
          <a:xfrm>
            <a:off x="7930204" y="5323864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latin typeface="Lava Devanagari" pitchFamily="2" charset="77"/>
                <a:cs typeface="Lava Devanagari" pitchFamily="2" charset="77"/>
                <a:hlinkClick r:id="rId3"/>
              </a:rPr>
              <a:t>Image Source: Macie LaCau – The Real Daily</a:t>
            </a:r>
            <a:endParaRPr lang="en-US" sz="1400">
              <a:latin typeface="Lava Devanagari" pitchFamily="2" charset="77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9201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AAC2-7F79-F375-462E-8CEF1F8D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7F1C-714C-355E-2604-0ADD22CE9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Introduction to Large Concept Models (LCMs)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C82DA-8701-6C93-7522-6BD02508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5FADF5-5115-C3F7-C2CE-F92430D65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36"/>
            <a:ext cx="10843727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>
                <a:latin typeface="Times New Roman"/>
                <a:cs typeface="Times New Roman"/>
              </a:rPr>
              <a:t>LLMs read and generate one token (</a:t>
            </a:r>
            <a:r>
              <a:rPr lang="en-US" altLang="en-US" sz="2000" err="1">
                <a:latin typeface="Times New Roman"/>
                <a:cs typeface="Times New Roman"/>
              </a:rPr>
              <a:t>subword</a:t>
            </a:r>
            <a:r>
              <a:rPr lang="en-US" altLang="en-US" sz="2000">
                <a:latin typeface="Times New Roman"/>
                <a:cs typeface="Times New Roman"/>
              </a:rPr>
              <a:t> fragment) at a time. LCMs replace the token with a concept: a dense vector that encodes the meaning of an entire sentence.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>
                <a:latin typeface="Times New Roman"/>
                <a:cs typeface="Times New Roman"/>
              </a:rPr>
              <a:t>Each concept is produced by SONAR which is a pretrained multilingual sentence encoder from Meta that maps any sentence, in any of 200+ languages, to the same semantic space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>
                <a:latin typeface="Times New Roman"/>
                <a:cs typeface="Times New Roman"/>
              </a:rPr>
              <a:t>The LCM backbone is a transformer that operates on a sequence of these concept vectors instead of tokens, predicting the next concept vector autoregressively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>
                <a:latin typeface="Times New Roman"/>
                <a:cs typeface="Times New Roman"/>
              </a:rPr>
              <a:t>The SONAR encoder and decoder are frozen. Only the concept-level transformer is trained.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>
                <a:latin typeface="Times New Roman"/>
                <a:cs typeface="Times New Roman"/>
              </a:rPr>
              <a:t>Because reasoning happens in a language-agnostic space, a model trained in English generalizes to other languages zero-shot at inference time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E8F32-8ED9-0AC5-6D6F-9DDB634CD942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9E610B-C2DE-66E4-8D84-EC36A6142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4181636"/>
            <a:ext cx="7772400" cy="228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97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9CEB8-7701-0E68-1EDC-EB88372D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8BFD6-437C-3252-55C5-7C0D8EF0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What Problems does an LCM Solve?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C7A34-55A5-4926-5B1C-93897D92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DE8D1E-4CB9-889B-AD58-A6C072584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>
                <a:latin typeface="Times New Roman"/>
                <a:cs typeface="Times New Roman"/>
              </a:rPr>
              <a:t>Token granularity</a:t>
            </a:r>
            <a:r>
              <a:rPr lang="en-US" altLang="en-US" sz="1800">
                <a:latin typeface="Times New Roman"/>
                <a:cs typeface="Times New Roman"/>
              </a:rPr>
              <a:t>: LLMs reason </a:t>
            </a:r>
            <a:r>
              <a:rPr lang="en-US" altLang="en-US" sz="1800" err="1">
                <a:latin typeface="Times New Roman"/>
                <a:cs typeface="Times New Roman"/>
              </a:rPr>
              <a:t>subword</a:t>
            </a:r>
            <a:r>
              <a:rPr lang="en-US" altLang="en-US" sz="1800">
                <a:latin typeface="Times New Roman"/>
                <a:cs typeface="Times New Roman"/>
              </a:rPr>
              <a:t>-by-</a:t>
            </a:r>
            <a:r>
              <a:rPr lang="en-US" altLang="en-US" sz="1800" err="1">
                <a:latin typeface="Times New Roman"/>
                <a:cs typeface="Times New Roman"/>
              </a:rPr>
              <a:t>subword</a:t>
            </a:r>
            <a:r>
              <a:rPr lang="en-US" altLang="en-US" sz="1800">
                <a:latin typeface="Times New Roman"/>
                <a:cs typeface="Times New Roman"/>
              </a:rPr>
              <a:t> with no native unit of meaning. LCMs reason over whole sentences where each computation step carries a complete idea.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>
                <a:latin typeface="Times New Roman"/>
                <a:cs typeface="Times New Roman"/>
              </a:rPr>
              <a:t>Sequence length: </a:t>
            </a:r>
            <a:r>
              <a:rPr lang="en-US" altLang="en-US" sz="1800">
                <a:latin typeface="Times New Roman"/>
                <a:cs typeface="Times New Roman"/>
              </a:rPr>
              <a:t>transformer attention cost scales quadratically with length. Concepts compress sequences ~10x versus tokens, making long documents tractable.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>
                <a:latin typeface="Times New Roman"/>
                <a:cs typeface="Times New Roman"/>
              </a:rPr>
              <a:t>Cross-lingual transfer</a:t>
            </a:r>
            <a:r>
              <a:rPr lang="en-US" altLang="en-US" sz="1800">
                <a:latin typeface="Times New Roman"/>
                <a:cs typeface="Times New Roman"/>
              </a:rPr>
              <a:t>: LLM tokenization is language-specific. SONAR embeddings are language-agnostic where an LCM trained in English can generate output in 200+ languages zero-shot.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>
                <a:latin typeface="Times New Roman"/>
                <a:cs typeface="Times New Roman"/>
              </a:rPr>
              <a:t>Compositional reasoning</a:t>
            </a:r>
            <a:r>
              <a:rPr lang="en-US" altLang="en-US" sz="1800">
                <a:latin typeface="Times New Roman"/>
                <a:cs typeface="Times New Roman"/>
              </a:rPr>
              <a:t>: multi-step arguments are hard to encode token-by-token. At the concept level, logical dependencies between sentences are more directly represented.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>
                <a:latin typeface="Times New Roman"/>
                <a:cs typeface="Times New Roman"/>
              </a:rPr>
              <a:t>Interpretability</a:t>
            </a:r>
            <a:r>
              <a:rPr lang="en-US" altLang="en-US" sz="1800">
                <a:latin typeface="Times New Roman"/>
                <a:cs typeface="Times New Roman"/>
              </a:rPr>
              <a:t>: every predicted concept vector can be decoded to a readable sentence. Token-level LLM internals have no such interpretive anchor.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D7F9E-43BE-9F80-7CAE-CA08E372F001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058ED-5721-EC3F-091D-8332F47F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49" y="4166389"/>
            <a:ext cx="6572251" cy="22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8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A95B-7E5D-563B-F6E2-32EE9A60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4F87F-CF22-AF1B-0E70-1336D70E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Training a Large Concept Model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3580F-9448-BAD8-C653-DB025689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F2E1624-14B8-67B3-6F18-C2E966BE1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>
                <a:latin typeface="Times New Roman"/>
                <a:cs typeface="Times New Roman"/>
              </a:rPr>
              <a:t>The SONAR encoder and decoder are pretrained on multilingual parallel data and frozen. Only the concept transformer is trained.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b="1">
                <a:latin typeface="Times New Roman"/>
                <a:cs typeface="Times New Roman"/>
              </a:rPr>
              <a:t>Objective</a:t>
            </a:r>
            <a:r>
              <a:rPr lang="en-US" altLang="en-US">
                <a:latin typeface="Times New Roman"/>
                <a:cs typeface="Times New Roman"/>
              </a:rPr>
              <a:t>: given a sequence of concept vectors, predict the next one. Loss is the distance between the model's predicted concept vector and the ground-truth SONAR embedding of the actual next sentence.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>
                <a:latin typeface="Times New Roman"/>
                <a:cs typeface="Times New Roman"/>
              </a:rPr>
              <a:t>This is continuous supervision where the loss measures how wrong the predicted meaning is, not how wrong the predicted word is.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tx1"/>
              </a:buClr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4322F-4C69-A4F5-38B2-1D055CAD5043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770581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EAA51-0774-879F-D7E0-373EF959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169B-7D10-CBA3-730A-A8884D5E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Training a Large Concept Model – Variants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1A652-792D-B523-860C-E3A11200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90BEC-3500-407C-8D4B-08A7C4413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Two training variants from the Meta paper: </a:t>
            </a:r>
          </a:p>
          <a:p>
            <a:pPr lvl="1"/>
            <a:r>
              <a:rPr lang="en-US" b="1">
                <a:latin typeface="Times New Roman"/>
                <a:cs typeface="Times New Roman"/>
              </a:rPr>
              <a:t>Base-LCM</a:t>
            </a:r>
            <a:r>
              <a:rPr lang="en-US">
                <a:latin typeface="Times New Roman"/>
                <a:cs typeface="Times New Roman"/>
              </a:rPr>
              <a:t>: directly minimizes MSE between predicted and target concept vectors. Simple, but tends to average over plausible continuations and produce generic output.</a:t>
            </a:r>
          </a:p>
          <a:p>
            <a:pPr lvl="1"/>
            <a:r>
              <a:rPr lang="en-US" b="1">
                <a:latin typeface="Times New Roman"/>
                <a:cs typeface="Times New Roman"/>
              </a:rPr>
              <a:t>Diffusion-LCM</a:t>
            </a:r>
            <a:r>
              <a:rPr lang="en-US">
                <a:latin typeface="Times New Roman"/>
                <a:cs typeface="Times New Roman"/>
              </a:rPr>
              <a:t>: starts from a noisy concept vector and iteratively denoises it toward the target, conditioned on prior context. Handles the multimodal distribution of plausible next sentences better and outperforms Base-LCM on generative tasks.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34794-85E7-4838-945F-34954663E639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94259-7D6F-7780-DB2E-6E88609B1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4002014"/>
            <a:ext cx="7772400" cy="262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6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CAD9-B287-A007-5239-07644C912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C302-6695-B82C-6F86-FFEDA40F7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Drawbacks of Large Concept Models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697A9-56D7-44B6-0C14-D87EFE76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25F89-B76D-2ABB-73EF-A1163B8CC8EE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DB3EF2A-9BDD-0CC1-9D44-EF89B5C77E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48279"/>
            <a:ext cx="1106532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Segmentation dependency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: pipeline assumes clean sentence boundaries. Malformed or domain-specific text (legal clauses, code, lists) that doesn't parse cleanly degrades concept quality before training even begins. 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Decoding fidelity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: reconstructing precise text from a predicted embedding is lossy. Fine-grained lexical precision can be lost in the encode-decode cycle. 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Fixed granularity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: sentence boundaries are a human-defined prior, not a learned one. The model cannot adapt its segmentation to information density (e.g. a dense technical clause and a simple filler sentence are treated identically)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Initialization cost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: SONAR required large-scale multilingual pretraining before LCM training can begin, raising the total pipeline cost above a standard LLM. 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Evaluation gap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: standard NLP metrics (BLEU, perplexity) are token-level. There are no established concept-level benchmarks, making rigorous comparison to LLMs methodologically difficult. 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Maturity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: the architecture is pretty nascent w/ limited tooling, few independent reproductions, no established fine-tuning or domain adaptation practices. 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6439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ED63-1E66-092E-DB7E-7AF30D0D6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F663-AD9A-EABC-4768-029142AC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Input Unit Comparison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EFAD339-A76D-D7AB-E1B8-6EB5D0869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58" y="1312744"/>
            <a:ext cx="6825217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LLMs read </a:t>
            </a:r>
            <a:r>
              <a:rPr lang="en-US" sz="1800" b="1" err="1">
                <a:latin typeface="Lava Devanagari" pitchFamily="2" charset="77"/>
                <a:cs typeface="Lava Devanagari" pitchFamily="2" charset="77"/>
              </a:rPr>
              <a:t>subword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 fragments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(e.g. "indemnification" → ["</a:t>
            </a:r>
            <a:r>
              <a:rPr lang="en-US" sz="1800" err="1">
                <a:latin typeface="Lava Devanagari" pitchFamily="2" charset="77"/>
                <a:cs typeface="Lava Devanagari" pitchFamily="2" charset="77"/>
              </a:rPr>
              <a:t>indem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", "</a:t>
            </a:r>
            <a:r>
              <a:rPr lang="en-US" sz="1800" err="1">
                <a:latin typeface="Lava Devanagari" pitchFamily="2" charset="77"/>
                <a:cs typeface="Lava Devanagari" pitchFamily="2" charset="77"/>
              </a:rPr>
              <a:t>nif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", "</a:t>
            </a:r>
            <a:r>
              <a:rPr lang="en-US" sz="1800" err="1">
                <a:latin typeface="Lava Devanagari" pitchFamily="2" charset="77"/>
                <a:cs typeface="Lava Devanagari" pitchFamily="2" charset="77"/>
              </a:rPr>
              <a:t>ication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"]) — legal meaning has to be reconstructed from pieces that carry none of it independently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LCMs read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whole sentences as a single concept vector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legal meaning arrives intact, nothing is fragmented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A 50-clause contract =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~8,000 tokens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for an LLM vs.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50 concept vectors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for an LCM — 160x fewer units, meaning distant clauses stay connected instead of fading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Legal drafting is already structured around discrete units of meaning — clauses, provisions, holdings — making LCMs the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first architecture whose atomic unit actually matches how law is written</a:t>
            </a:r>
            <a:endParaRPr lang="en-US" sz="180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3AE38-35D8-35FC-91CA-0531954F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7E548-C5CA-1E1C-9CDA-0099BB9805A7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65DE8E-C942-8417-7343-299C2E265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736" y="660105"/>
            <a:ext cx="5273688" cy="535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12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20EE-675F-84CD-197C-FA97638F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DD43-CD8E-48EA-F6D1-DBF2C5C2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Generation Mechanism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1BF7D7-FD0D-1A70-8074-CDAC7FA08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5" y="1258719"/>
            <a:ext cx="6714462" cy="5178943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LLMs generate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one token at a time, permanently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each word is committed before the model knows where the sentence is going.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A wrong word early in a clause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shifts every token that follows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errors don't stay local, they cascade and compound through the entire output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LCMs start with a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noisy concept vector and iteratively refine it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like developing a photograph, the idea sharpens across multiple steps before a single word is written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Legal meaning is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decided before prose begins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in an LCM — the SONAR decoder only converts the concept to language once the meaning is locked in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This mirrors exactly how lawyers are trained to think —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IRAC: concept first, writing second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. LLMs do the opposite. LCMs do it in the right order.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5B6FC-8A02-69DF-8444-F61A032F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7476B-7BCC-1C14-7920-C52130A10A19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950B07-C8A1-6F25-14EB-A4A9C0465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10" y="837314"/>
            <a:ext cx="5332684" cy="517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26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6370-0E53-9EFA-41FF-098D06A5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1A5B-8374-29AF-E8AC-03764899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Training Objectives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5892C9-4A1C-A225-9601-B909A5430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5" y="1312744"/>
            <a:ext cx="6714462" cy="5124918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LLMs optimize for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statistical plausibility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the loss function has no concept of truth, accuracy, or legal correctness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A legally wrong clause in fluent legalese receives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almost identical loss to a correct one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wrong meaning is invisible to the training signal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LCMs optimize for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conceptual accuracy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loss is the distance between the predicted idea and the actual next idea in semantic space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EX: Third-party" vs. "first-party" claims: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one token apart, but worlds apart in meaning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cross-entropy misses it, MSE catches it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LLMs learn the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texture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of legal language. LCMs learn the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logic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of it.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LLMs are trained to sound like legal experts. LCMs are trained to think like them.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F55E2-09B1-4558-455B-08C3124C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60BF1-B975-303A-564F-A96CD0973FD8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D01192-88C9-2A47-02FD-7A222A46B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489" y="810732"/>
            <a:ext cx="5144416" cy="523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2F37-2022-7B35-F0BC-9BC2BCDE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4139-ECA6-A455-477E-16454AD6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46198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Interpretability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7DE7FC-CB17-D995-E09F-C91716655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5" y="1166546"/>
            <a:ext cx="6918252" cy="5279976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LLM reasoning is distributed across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billions of weights firing simultaneously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there is no single inspectable step you can point to and say "this is where the conclusion came from"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LCMs produce a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readable concept chain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— each step can be decoded into plain language, making the reasoning the computation itself, not an approximation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Law requires explainability at every level: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professional responsibility, court scrutiny, and the EU AI Act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all demand auditability that black-box LLMs cannot meet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LLM errors: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read everything, verify independently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. LCM errors: </a:t>
            </a:r>
            <a:r>
              <a:rPr lang="en-US" sz="1800" b="1">
                <a:latin typeface="Lava Devanagari" pitchFamily="2" charset="77"/>
                <a:cs typeface="Lava Devanagari" pitchFamily="2" charset="77"/>
              </a:rPr>
              <a:t>find the exact concept step where logic broke down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Lava Devanagari" pitchFamily="2" charset="77"/>
                <a:cs typeface="Lava Devanagari" pitchFamily="2" charset="77"/>
              </a:rPr>
              <a:t>LCMs aren't just more accurate. They're more compatible with how law actually works.</a:t>
            </a:r>
            <a:endParaRPr lang="en-US" sz="320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0F62D-8032-E9D2-ED5A-662B8064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861B0-553F-9F2A-E221-FB39A819A484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70372C-F9E4-B5B4-1367-641BA1AC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276" y="655675"/>
            <a:ext cx="4920786" cy="542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61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A99D-176A-6528-08D6-7CB7ED81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0DD6-3CC0-1AB8-CC58-A40DACD2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Lava Devanagari"/>
                <a:cs typeface="Arial"/>
              </a:rPr>
              <a:t>Research Question &amp; Paper Structure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8A1FF7-1F49-174A-3B9E-D34423B8C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744"/>
            <a:ext cx="10515600" cy="4650884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sz="2000" b="1" i="1">
                <a:latin typeface="Lava Devanagari" pitchFamily="2" charset="77"/>
                <a:cs typeface="Lava Devanagari" pitchFamily="2" charset="77"/>
              </a:rPr>
              <a:t>How can Large Concept Models overcome the architectural limitations in Large Language Models to enable higher-level strategic reasoning and traceable decision-making in complex domains like Law?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1800">
              <a:latin typeface="Lava Devanagari" pitchFamily="2" charset="77"/>
              <a:cs typeface="Lava Devanagari" pitchFamily="2" charset="77"/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>
                <a:latin typeface="Lava Devanagari" pitchFamily="2" charset="77"/>
                <a:cs typeface="Lava Devanagari" pitchFamily="2" charset="77"/>
              </a:rPr>
              <a:t>Abstract &amp; Research Motivation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: Identifying the 'Reasoning Gap' in LLMs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>
                <a:latin typeface="Lava Devanagari" pitchFamily="2" charset="77"/>
                <a:cs typeface="Lava Devanagari" pitchFamily="2" charset="77"/>
              </a:rPr>
              <a:t>LLM Architecture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: Analyzing current construction and higher-level reasoning limitations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>
                <a:latin typeface="Lava Devanagari" pitchFamily="2" charset="77"/>
                <a:cs typeface="Lava Devanagari" pitchFamily="2" charset="77"/>
              </a:rPr>
              <a:t>Introduction to Large Concept Models (LCM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): Moving from next-token to next-concept prediction</a:t>
            </a:r>
          </a:p>
          <a:p>
            <a:pPr lvl="2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b="1">
                <a:latin typeface="Lava Devanagari" pitchFamily="2" charset="77"/>
                <a:cs typeface="Lava Devanagari" pitchFamily="2" charset="77"/>
              </a:rPr>
              <a:t>LCM Advantages:</a:t>
            </a:r>
            <a:r>
              <a:rPr lang="en-US">
                <a:latin typeface="Lava Devanagari" pitchFamily="2" charset="77"/>
                <a:cs typeface="Lava Devanagari" pitchFamily="2" charset="77"/>
              </a:rPr>
              <a:t> Improving performance &amp; interpretability through reasoning tracing and edge/node mapping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>
                <a:latin typeface="Lava Devanagari" pitchFamily="2" charset="77"/>
                <a:cs typeface="Lava Devanagari" pitchFamily="2" charset="77"/>
              </a:rPr>
              <a:t>Hybrid Architecture: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Leveraging LLMs as a linguistic layer over Concept Model reasoning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>
                <a:latin typeface="Lava Devanagari" pitchFamily="2" charset="77"/>
                <a:cs typeface="Lava Devanagari" pitchFamily="2" charset="77"/>
              </a:rPr>
              <a:t>Legal Case Study: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 Applying CM to complex strategic tasks and long-form legal reasoning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>
                <a:latin typeface="Lava Devanagari" pitchFamily="2" charset="77"/>
                <a:cs typeface="Lava Devanagari" pitchFamily="2" charset="77"/>
              </a:rPr>
              <a:t>Implementation Blueprint: 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Technical schematics and data sourcing for CM prototypes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>
                <a:latin typeface="Lava Devanagari" pitchFamily="2" charset="77"/>
                <a:cs typeface="Lava Devanagari" pitchFamily="2" charset="77"/>
              </a:rPr>
              <a:t>Future Horizons</a:t>
            </a:r>
            <a:r>
              <a:rPr lang="en-US" sz="1800">
                <a:latin typeface="Lava Devanagari" pitchFamily="2" charset="77"/>
                <a:cs typeface="Lava Devanagari" pitchFamily="2" charset="77"/>
              </a:rPr>
              <a:t>: Post-processing challenges and experimental validation in industry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endParaRPr lang="en-US" sz="180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5245A-C8D6-2CAC-EC3B-F859FD18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221D3-5FAB-35DB-8147-B33D88E5242E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3414794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806328-F853-B444-92B7-018D46EA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2359717"/>
            <a:ext cx="8729244" cy="2226798"/>
          </a:xfrm>
        </p:spPr>
        <p:txBody>
          <a:bodyPr anchor="ctr"/>
          <a:lstStyle/>
          <a:p>
            <a:r>
              <a:rPr lang="en-US" b="1">
                <a:latin typeface="Lava Devanagari" pitchFamily="2" charset="77"/>
                <a:cs typeface="Lava Devanagari" pitchFamily="2" charset="77"/>
              </a:rPr>
              <a:t>Thank You</a:t>
            </a:r>
            <a:endParaRPr lang="en-US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A55CA50-AC9A-4A6E-01F4-6EB8AC12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BC73268-747D-2FD8-24B8-A9A7CE6164AF}"/>
              </a:ext>
            </a:extLst>
          </p:cNvPr>
          <p:cNvSpPr txBox="1">
            <a:spLocks/>
          </p:cNvSpPr>
          <p:nvPr/>
        </p:nvSpPr>
        <p:spPr>
          <a:xfrm>
            <a:off x="831851" y="4371372"/>
            <a:ext cx="6352674" cy="8823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accent1"/>
                </a:solidFill>
                <a:latin typeface="Helvetica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/>
                <a:ea typeface="+mj-ea"/>
                <a:cs typeface="Lava Devanagari" pitchFamily="2" charset="77"/>
              </a:rPr>
              <a:t>Jaysen Jensen – jaysen@uchicago.edu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/>
                <a:ea typeface="+mj-ea"/>
                <a:cs typeface="Lava Devanagari" pitchFamily="2" charset="77"/>
              </a:rPr>
              <a:t>Nicholas Dhaliwal – nicholasdhaliwal@uchicago.edu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/>
                <a:ea typeface="+mj-ea"/>
                <a:cs typeface="Lava Devanagari" pitchFamily="2" charset="77"/>
              </a:rPr>
              <a:t>Nicholas Mikhail – nmikhail@uchicago.edu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7016DFB-DAF5-265A-B85F-998802A13289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4141925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297265-84B5-B49B-7596-D7A15E0A2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8C0B-43D6-C8AE-E058-692E0AF5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LCM Architecture Overview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E2E97-321A-4FFB-0069-84D3F4D1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3B4A39-732E-102A-8A9C-F49832FB7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>
                <a:latin typeface="Times New Roman"/>
                <a:cs typeface="Times New Roman"/>
              </a:rPr>
              <a:t>Encode</a:t>
            </a:r>
            <a:r>
              <a:rPr lang="en-US" altLang="en-US">
                <a:latin typeface="Times New Roman"/>
                <a:cs typeface="Times New Roman"/>
              </a:rPr>
              <a:t>: Input text is split into sentences. Each sentence passes through the frozen SONAR encoder, producing a fixed-size concept vector. A 10-sentence document becomes 10 vectors.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>
                <a:latin typeface="Times New Roman"/>
                <a:cs typeface="Times New Roman"/>
              </a:rPr>
              <a:t>Concept transformer</a:t>
            </a:r>
            <a:r>
              <a:rPr lang="en-US" altLang="en-US">
                <a:latin typeface="Times New Roman"/>
                <a:cs typeface="Times New Roman"/>
              </a:rPr>
              <a:t>: The sequence of concept vectors is fed to the LCM backbone which is a causal transformer that predicts the next concept vector. All reasoning happens here.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>
                <a:latin typeface="Times New Roman"/>
                <a:cs typeface="Times New Roman"/>
              </a:rPr>
              <a:t>Decode</a:t>
            </a:r>
            <a:r>
              <a:rPr lang="en-US" altLang="en-US">
                <a:latin typeface="Times New Roman"/>
                <a:cs typeface="Times New Roman"/>
              </a:rPr>
              <a:t>: The predicted concept vector passes through the frozen SONAR decoder, which generates the output sentence in any supported language.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CE479-0431-F8CD-CB28-5C8B5AAFE353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CACA4-BB5B-D727-9053-258887741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4230870"/>
            <a:ext cx="7772400" cy="218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791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UChicago">
  <a:themeElements>
    <a:clrScheme name="Custom 1">
      <a:dk1>
        <a:srgbClr val="000000"/>
      </a:dk1>
      <a:lt1>
        <a:srgbClr val="FFFFFF"/>
      </a:lt1>
      <a:dk2>
        <a:srgbClr val="737373"/>
      </a:dk2>
      <a:lt2>
        <a:srgbClr val="D9D9D9"/>
      </a:lt2>
      <a:accent1>
        <a:srgbClr val="800000"/>
      </a:accent1>
      <a:accent2>
        <a:srgbClr val="D9D9D9"/>
      </a:accent2>
      <a:accent3>
        <a:srgbClr val="A6A6A6"/>
      </a:accent3>
      <a:accent4>
        <a:srgbClr val="EAAA00"/>
      </a:accent4>
      <a:accent5>
        <a:srgbClr val="B36955"/>
      </a:accent5>
      <a:accent6>
        <a:srgbClr val="002A3A"/>
      </a:accent6>
      <a:hlink>
        <a:srgbClr val="0000EE"/>
      </a:hlink>
      <a:folHlink>
        <a:srgbClr val="73737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Chicago" id="{CFAA2610-EF68-2342-A71B-BDE9C170BA18}" vid="{B0365B56-F18B-384A-96E5-38458130AA7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1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1_Office Theme</vt:lpstr>
      <vt:lpstr>UChicago</vt:lpstr>
      <vt:lpstr>LLMs v. LCMs  4/14/26 Capstone Session</vt:lpstr>
      <vt:lpstr>What is an LLM?</vt:lpstr>
      <vt:lpstr>What is an LLM?</vt:lpstr>
      <vt:lpstr>Developing an LLM</vt:lpstr>
      <vt:lpstr>Overview of an LLM Workflow</vt:lpstr>
      <vt:lpstr>Transformer Architecture Overview</vt:lpstr>
      <vt:lpstr>Next Token Prediction</vt:lpstr>
      <vt:lpstr>Next Token Prediction Example</vt:lpstr>
      <vt:lpstr>Limitations of LLMs in Law</vt:lpstr>
      <vt:lpstr>Introduction to Large Concept Models (LCMs)</vt:lpstr>
      <vt:lpstr>What Problems does an LCM Solve?</vt:lpstr>
      <vt:lpstr>Training a Large Concept Model</vt:lpstr>
      <vt:lpstr>Training a Large Concept Model – Variants</vt:lpstr>
      <vt:lpstr>Drawbacks of Large Concept Models</vt:lpstr>
      <vt:lpstr>Input Unit Comparison</vt:lpstr>
      <vt:lpstr>Generation Mechanism</vt:lpstr>
      <vt:lpstr>Training Objectives</vt:lpstr>
      <vt:lpstr>Interpretability</vt:lpstr>
      <vt:lpstr>Research Question &amp; Paper Structure</vt:lpstr>
      <vt:lpstr>Thank You</vt:lpstr>
      <vt:lpstr>LCM Architecture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Jaysen Jensen</dc:creator>
  <cp:revision>6</cp:revision>
  <dcterms:created xsi:type="dcterms:W3CDTF">2026-04-10T17:00:32Z</dcterms:created>
  <dcterms:modified xsi:type="dcterms:W3CDTF">2026-04-15T23:06:25Z</dcterms:modified>
</cp:coreProperties>
</file>